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71" r:id="rId4"/>
    <p:sldId id="259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3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3A2"/>
    <a:srgbClr val="00FFAD"/>
    <a:srgbClr val="0A764F"/>
    <a:srgbClr val="0C6745"/>
    <a:srgbClr val="0C6040"/>
    <a:srgbClr val="00D08B"/>
    <a:srgbClr val="73716E"/>
    <a:srgbClr val="01A870"/>
    <a:srgbClr val="09C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2"/>
    <p:restoredTop sz="94575"/>
  </p:normalViewPr>
  <p:slideViewPr>
    <p:cSldViewPr snapToGrid="0">
      <p:cViewPr>
        <p:scale>
          <a:sx n="98" d="100"/>
          <a:sy n="98" d="100"/>
        </p:scale>
        <p:origin x="200" y="384"/>
      </p:cViewPr>
      <p:guideLst>
        <p:guide orient="horz" pos="33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9" d="100"/>
          <a:sy n="89" d="100"/>
        </p:scale>
        <p:origin x="2920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18860-90BA-E647-BAB5-0DE32CB07D6B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4D2876-AA61-AB42-94D7-30F7FBA858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97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F6943-3814-AFEE-7046-390928D1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FF6AFCB-D496-7BA8-81B2-1C478C01F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3A203C-8DF9-BF5B-5CA7-9F21DA978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62A289-2CC0-2A48-7991-C8B5BDCAE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D2876-AA61-AB42-94D7-30F7FBA8581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1239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8D37-596D-E508-348A-DA0B8BBF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F9E177-C55B-6781-1952-2689FCA9D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8FA51E9-F8F2-75E4-BEBF-DC4699A59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66DBF0-86FC-E426-89D5-81AA2912C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D2876-AA61-AB42-94D7-30F7FBA8581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178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909C2-9FA7-BC94-4748-3C647F83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908413-48D0-A61E-CD63-15630A2C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58274B-F53A-CF47-70C5-79375B25C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15DC9B-759F-AC35-6850-713657395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D2876-AA61-AB42-94D7-30F7FBA8581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533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46DC-D353-DF99-D7CC-56DE35CF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CFD2FE1-1D5A-6908-06E1-A1B934434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5A45831-F8DB-1361-8A2C-2DB968FE9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37592C-7CA6-12F9-46F3-1DD340FAE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D2876-AA61-AB42-94D7-30F7FBA8581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2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9453-AB57-4509-37B3-0DF4123A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703EFF-978C-C909-7891-06AB084D6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166995D-4810-BB09-BBD6-980D3ECFA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34814F-89D4-B85C-963F-F1E4E9032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D2876-AA61-AB42-94D7-30F7FBA85811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174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A5F4F-76E1-2C11-77BD-A2242690D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BD9F1B-CC4D-9B17-7E9C-85FB34606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9BDFC6-EF4A-2618-0BA6-3E329C4B8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76AF94-6310-C287-A71D-40AB90168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D2876-AA61-AB42-94D7-30F7FBA8581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3457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04B4-E463-208E-16AF-6BA6AF33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AC99E0-0F31-3E4C-934E-2E1964B81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FFBC345-0E79-CAD8-09B3-6FF03771F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B7B19F-FFB9-24B1-8D62-2C13786B4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D2876-AA61-AB42-94D7-30F7FBA8581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1806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AE96D4-69C0-26E3-BC36-E871261CE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5DD1CFF-C030-4A02-91BE-DFA1849A6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9E872-6DD4-148C-F66A-156088989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EB8E5D-6A8D-BAAC-53E3-020607E5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3FA8A9-A7A7-1507-CCB7-88FEF5C24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755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A98F31-CE8F-3151-0CC5-29690299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C4191A-B4AF-A151-BD5F-EEC08D3C8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07EB9C-D5BD-9400-6542-9BF321F2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C676E5-FFA3-4EF3-4767-8B4818CA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E9BE94-355D-4F08-B2E5-9A6A1214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698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76C7BB-3899-205B-C2D4-8DFA1889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E0D196-46CE-5864-76C0-C3AA5F30A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43B8EE-0CE6-490B-074B-5A6980D0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799E42-D270-65EF-BF26-2DA1F0A56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EF0BA7-2615-55E8-C607-FF0D67E7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88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A518D3-B58E-3701-57E1-E4F0FC63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DBD691-5551-29FC-3AA3-F68D69E1D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BC3E7C-E4CA-73C6-CFEB-F10EBA37E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73ABCB-8AFA-E2C3-4A23-BC06D0D9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0513CB-0235-0F65-F190-35A7A3CF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58175E-25B5-0C47-3561-7F62524B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994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78798-20E6-2F97-6CEF-CB6FA971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F8122C-2C49-82C3-DB05-A3041366D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0DC7A2-40B7-A551-8EF9-28E770405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84890C-8274-656D-1DD9-A87B8690E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B700489-2B98-394A-9048-4452C8C2F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A53C11F-B624-603F-3EA2-D60605CD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79C1E4-63EE-F665-15E6-2ABF357DA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1EA574-1576-896F-8B90-96CB685F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3213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94D08-CAD5-CD3B-0990-793224B2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BD5D6AD-B426-F6DB-F7F9-16974C4B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11CE8B-8577-703D-A725-5AD7E78A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512585-8BEF-EAFF-CDE1-6A372651E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6923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9D7C38-4D53-DD1E-6CE4-04A31348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E61B51D-6E0A-0E17-59CC-A39EE9F9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1DFE74-002A-63B1-B030-7DACF860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947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EC2F3-A3F4-4879-7891-6C98225A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A4733F-5D67-DE5B-5F2D-8A204AB8C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53EB2B0-C680-2280-9346-F21051E92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F25AEF-F81C-9879-EB7D-5DCFF72C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AF1112-09F2-2429-2177-22EFA862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89E7C5-CB08-6EE0-3CF3-AB2CE807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99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47737E-7B72-3EF6-977C-3F6A1FB25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FC4F283-0539-826F-0FB5-4F3617598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8C7B8C-16C5-CA29-ACC5-42292696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6A2CB3-DA72-76A3-654B-92F9939C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EC5121-4469-82FC-EB8C-E910E826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B9F8F2-4D32-562C-5E83-11AEDD37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6645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F5021-A9B2-21A1-E4A7-0CA708C6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A142E6-F6EB-76BB-72A8-7C207935C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95081A-58EA-4109-2743-2440BBD2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B73B4F-3DF1-46E3-5052-0227E531D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94FFF9-B662-809A-108F-F18DA085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98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2948D3-E829-0A82-FCEA-1ED212B0B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FDFE35-7AF5-8B38-F046-54455CBD2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E2209B-E9C4-E757-C5BD-EAE02F56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E8084A-C79A-EB32-F234-29BDA759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922538-D8A4-429D-D4BB-04D133F9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59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271090-CF85-0996-F291-F8B9BAA0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ED74E4-6945-D3EC-0E6E-A577906BD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3B558C-C6B7-26A9-DF33-B65EEDCA2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CDF39-FFC4-CF45-8262-C5260E410637}" type="datetimeFigureOut">
              <a:rPr lang="de-DE" smtClean="0"/>
              <a:t>09.04.26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85C0CC-98E2-C68A-CE7A-2EF076444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9CCB53-5AA3-83DD-9280-98AD9B91C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66161-DCE9-4643-9182-3B77BB482E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18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openxmlformats.org/officeDocument/2006/relationships/image" Target="../media/image5.svg"/><Relationship Id="rId7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gif"/><Relationship Id="rId5" Type="http://schemas.openxmlformats.org/officeDocument/2006/relationships/image" Target="../media/image1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gif"/><Relationship Id="rId5" Type="http://schemas.openxmlformats.org/officeDocument/2006/relationships/image" Target="../media/image1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gif"/><Relationship Id="rId5" Type="http://schemas.openxmlformats.org/officeDocument/2006/relationships/image" Target="../media/image1.sv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D505C8-6175-D165-44D1-DE43077B4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2147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de-DE" sz="4400" b="1" dirty="0" err="1">
                <a:solidFill>
                  <a:srgbClr val="09CC8F"/>
                </a:solidFill>
              </a:rPr>
              <a:t>Unlock</a:t>
            </a:r>
            <a:r>
              <a:rPr lang="de-DE" sz="4400" b="1" dirty="0">
                <a:solidFill>
                  <a:srgbClr val="09CC8F"/>
                </a:solidFill>
              </a:rPr>
              <a:t> </a:t>
            </a:r>
            <a:r>
              <a:rPr lang="de-DE" sz="4400" b="1" dirty="0" err="1">
                <a:solidFill>
                  <a:srgbClr val="09CC8F"/>
                </a:solidFill>
              </a:rPr>
              <a:t>preventive</a:t>
            </a:r>
            <a:r>
              <a:rPr lang="de-DE" sz="4400" b="1" dirty="0">
                <a:solidFill>
                  <a:srgbClr val="09CC8F"/>
                </a:solidFill>
              </a:rPr>
              <a:t>, </a:t>
            </a:r>
            <a:r>
              <a:rPr lang="de-DE" sz="4400" b="1" dirty="0" err="1">
                <a:solidFill>
                  <a:srgbClr val="09CC8F"/>
                </a:solidFill>
              </a:rPr>
              <a:t>personalised</a:t>
            </a:r>
            <a:r>
              <a:rPr lang="de-DE" sz="4400" b="1" dirty="0">
                <a:solidFill>
                  <a:srgbClr val="09CC8F"/>
                </a:solidFill>
              </a:rPr>
              <a:t> care </a:t>
            </a:r>
            <a:r>
              <a:rPr lang="de-DE" sz="4400" b="1" dirty="0" err="1">
                <a:solidFill>
                  <a:srgbClr val="09CC8F"/>
                </a:solidFill>
              </a:rPr>
              <a:t>through</a:t>
            </a:r>
            <a:r>
              <a:rPr lang="de-DE" sz="4400" b="1" dirty="0">
                <a:solidFill>
                  <a:srgbClr val="09CC8F"/>
                </a:solidFill>
              </a:rPr>
              <a:t> an AI-</a:t>
            </a:r>
            <a:r>
              <a:rPr lang="de-DE" sz="4400" b="1" dirty="0" err="1">
                <a:solidFill>
                  <a:srgbClr val="09CC8F"/>
                </a:solidFill>
              </a:rPr>
              <a:t>driven</a:t>
            </a:r>
            <a:r>
              <a:rPr lang="de-DE" sz="4400" b="1" dirty="0">
                <a:solidFill>
                  <a:srgbClr val="09CC8F"/>
                </a:solidFill>
              </a:rPr>
              <a:t> </a:t>
            </a:r>
            <a:r>
              <a:rPr lang="de-DE" sz="4400" b="1" dirty="0" err="1">
                <a:solidFill>
                  <a:srgbClr val="09CC8F"/>
                </a:solidFill>
              </a:rPr>
              <a:t>longevity</a:t>
            </a:r>
            <a:r>
              <a:rPr lang="de-DE" sz="4400" b="1" dirty="0">
                <a:solidFill>
                  <a:srgbClr val="09CC8F"/>
                </a:solidFill>
              </a:rPr>
              <a:t> </a:t>
            </a:r>
            <a:r>
              <a:rPr lang="de-DE" sz="4400" b="1" dirty="0" err="1">
                <a:solidFill>
                  <a:srgbClr val="09CC8F"/>
                </a:solidFill>
              </a:rPr>
              <a:t>journey</a:t>
            </a:r>
            <a:endParaRPr lang="de-DE" sz="4400" b="1" dirty="0">
              <a:solidFill>
                <a:srgbClr val="09CC8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E75F26-A709-DD54-0A62-122B8C68A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1822"/>
            <a:ext cx="9144000" cy="998747"/>
          </a:xfrm>
        </p:spPr>
        <p:txBody>
          <a:bodyPr/>
          <a:lstStyle/>
          <a:p>
            <a:r>
              <a:rPr lang="de-DE" dirty="0">
                <a:solidFill>
                  <a:srgbClr val="73716E"/>
                </a:solidFill>
              </a:rPr>
              <a:t>Hackathon – Future Leader Summit </a:t>
            </a:r>
          </a:p>
          <a:p>
            <a:r>
              <a:rPr lang="de-DE" dirty="0">
                <a:solidFill>
                  <a:srgbClr val="73716E"/>
                </a:solidFill>
              </a:rPr>
              <a:t>09.04. – 10.04.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4BD431F-1250-88E8-545D-6EDDAB0EC648}"/>
              </a:ext>
            </a:extLst>
          </p:cNvPr>
          <p:cNvGrpSpPr/>
          <p:nvPr/>
        </p:nvGrpSpPr>
        <p:grpSpPr>
          <a:xfrm>
            <a:off x="4187633" y="1527902"/>
            <a:ext cx="4490726" cy="1314029"/>
            <a:chOff x="4187633" y="1527902"/>
            <a:chExt cx="4490726" cy="1314029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F0FDCAE-AB0D-C882-4206-6587AC762D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1026" name="Picture 2" descr="Wie ist BCG Platinion als Arbeitgeber? 📈">
              <a:extLst>
                <a:ext uri="{FF2B5EF4-FFF2-40B4-BE49-F238E27FC236}">
                  <a16:creationId xmlns:a16="http://schemas.microsoft.com/office/drawing/2014/main" id="{14FC3CC3-B218-05A1-5177-D9F638F139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D08F1DCE-5557-B5C0-174A-83F37CA336E1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3200" dirty="0">
                  <a:latin typeface="Century Gothic" panose="020B0502020202020204" pitchFamily="34" charset="0"/>
                </a:rPr>
                <a:t>x</a:t>
              </a:r>
              <a:endParaRPr lang="de-DE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2049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B5328293-A52F-4F9F-4772-8D191FF362D6}"/>
              </a:ext>
            </a:extLst>
          </p:cNvPr>
          <p:cNvSpPr/>
          <p:nvPr/>
        </p:nvSpPr>
        <p:spPr>
          <a:xfrm>
            <a:off x="0" y="3429000"/>
            <a:ext cx="3499338" cy="3429000"/>
          </a:xfrm>
          <a:prstGeom prst="rect">
            <a:avLst/>
          </a:prstGeom>
          <a:solidFill>
            <a:srgbClr val="09C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2400" b="1" dirty="0" err="1"/>
              <a:t>Maximillian</a:t>
            </a:r>
            <a:r>
              <a:rPr lang="de-DE" sz="2400" b="1" dirty="0"/>
              <a:t> Muster, 42</a:t>
            </a:r>
          </a:p>
          <a:p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Mid-level Tech Executive / Consultant</a:t>
            </a:r>
          </a:p>
          <a:p>
            <a:r>
              <a:rPr lang="de-DE" altLang="de-DE" b="1" dirty="0">
                <a:solidFill>
                  <a:schemeClr val="tx1"/>
                </a:solidFill>
                <a:latin typeface="gg sans"/>
              </a:rPr>
              <a:t>Berlin</a:t>
            </a:r>
            <a:endParaRPr kumimoji="0" lang="de-DE" altLang="de-DE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g sans"/>
            </a:endParaRPr>
          </a:p>
          <a:p>
            <a:endParaRPr lang="de-DE" sz="1600" b="1" dirty="0">
              <a:solidFill>
                <a:schemeClr val="tx1"/>
              </a:solidFill>
              <a:latin typeface="gg sans"/>
            </a:endParaRPr>
          </a:p>
          <a:p>
            <a:endParaRPr lang="de-DE" sz="1600" b="1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F88AC93-ACC5-C087-80CA-FBFD77AA3950}"/>
              </a:ext>
            </a:extLst>
          </p:cNvPr>
          <p:cNvSpPr/>
          <p:nvPr/>
        </p:nvSpPr>
        <p:spPr>
          <a:xfrm>
            <a:off x="6998676" y="0"/>
            <a:ext cx="5193324" cy="3429000"/>
          </a:xfrm>
          <a:prstGeom prst="rect">
            <a:avLst/>
          </a:prstGeom>
          <a:solidFill>
            <a:srgbClr val="0A764F"/>
          </a:solidFill>
          <a:ln>
            <a:solidFill>
              <a:srgbClr val="0A76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2400" b="1" dirty="0"/>
              <a:t>MOTIVATION</a:t>
            </a:r>
          </a:p>
          <a:p>
            <a:endParaRPr lang="de-DE" sz="1600" b="1" dirty="0"/>
          </a:p>
          <a:p>
            <a:endParaRPr lang="de-DE" sz="1600" b="1" dirty="0"/>
          </a:p>
          <a:p>
            <a:endParaRPr lang="de-DE" sz="1600" b="1" dirty="0"/>
          </a:p>
          <a:p>
            <a:endParaRPr lang="de-DE" sz="1600" b="1" dirty="0"/>
          </a:p>
          <a:p>
            <a:endParaRPr lang="de-DE" sz="1600" b="1" dirty="0"/>
          </a:p>
          <a:p>
            <a:endParaRPr lang="de-DE" sz="1600" b="1" dirty="0"/>
          </a:p>
          <a:p>
            <a:endParaRPr lang="de-DE" sz="1600" b="1" dirty="0"/>
          </a:p>
          <a:p>
            <a:endParaRPr lang="de-DE" sz="1600" b="1" dirty="0"/>
          </a:p>
          <a:p>
            <a:endParaRPr lang="de-DE" sz="1600" b="1" dirty="0"/>
          </a:p>
          <a:p>
            <a:endParaRPr lang="de-DE" sz="1600" b="1" dirty="0"/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CE4B22D2-8205-BCA3-149F-2804E7A4AFDC}"/>
              </a:ext>
            </a:extLst>
          </p:cNvPr>
          <p:cNvCxnSpPr>
            <a:cxnSpLocks/>
          </p:cNvCxnSpPr>
          <p:nvPr/>
        </p:nvCxnSpPr>
        <p:spPr>
          <a:xfrm>
            <a:off x="8373291" y="979714"/>
            <a:ext cx="31612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FAE085D4-9CFB-D1DE-B624-5A226C74E12C}"/>
              </a:ext>
            </a:extLst>
          </p:cNvPr>
          <p:cNvCxnSpPr>
            <a:cxnSpLocks/>
          </p:cNvCxnSpPr>
          <p:nvPr/>
        </p:nvCxnSpPr>
        <p:spPr>
          <a:xfrm>
            <a:off x="8373291" y="1589314"/>
            <a:ext cx="31612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1BE63BC4-FC3E-4504-E61B-4D729E6FBC97}"/>
              </a:ext>
            </a:extLst>
          </p:cNvPr>
          <p:cNvCxnSpPr>
            <a:cxnSpLocks/>
          </p:cNvCxnSpPr>
          <p:nvPr/>
        </p:nvCxnSpPr>
        <p:spPr>
          <a:xfrm>
            <a:off x="8373291" y="2229394"/>
            <a:ext cx="31612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55728F6F-E0AA-0B0F-51A1-E3123AED947E}"/>
              </a:ext>
            </a:extLst>
          </p:cNvPr>
          <p:cNvCxnSpPr>
            <a:cxnSpLocks/>
          </p:cNvCxnSpPr>
          <p:nvPr/>
        </p:nvCxnSpPr>
        <p:spPr>
          <a:xfrm>
            <a:off x="8373291" y="2869474"/>
            <a:ext cx="31612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E7A474A-8E4F-8D40-1672-B07297AFBFE9}"/>
              </a:ext>
            </a:extLst>
          </p:cNvPr>
          <p:cNvSpPr/>
          <p:nvPr/>
        </p:nvSpPr>
        <p:spPr>
          <a:xfrm>
            <a:off x="8869682" y="901336"/>
            <a:ext cx="182880" cy="18288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88D97C-A05F-DF81-612C-91FE348D624E}"/>
              </a:ext>
            </a:extLst>
          </p:cNvPr>
          <p:cNvSpPr/>
          <p:nvPr/>
        </p:nvSpPr>
        <p:spPr>
          <a:xfrm>
            <a:off x="10302243" y="1506190"/>
            <a:ext cx="182880" cy="16625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1D9D0A-0127-E8DF-DE25-E97D00BACDD0}"/>
              </a:ext>
            </a:extLst>
          </p:cNvPr>
          <p:cNvSpPr/>
          <p:nvPr/>
        </p:nvSpPr>
        <p:spPr>
          <a:xfrm>
            <a:off x="9474930" y="2128856"/>
            <a:ext cx="182880" cy="16625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1B6BD5-8272-023E-E79B-5726CD5D5670}"/>
              </a:ext>
            </a:extLst>
          </p:cNvPr>
          <p:cNvSpPr/>
          <p:nvPr/>
        </p:nvSpPr>
        <p:spPr>
          <a:xfrm>
            <a:off x="10062755" y="2795059"/>
            <a:ext cx="182880" cy="16625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825BF9B-5436-155E-53E7-DD633FC49CC3}"/>
              </a:ext>
            </a:extLst>
          </p:cNvPr>
          <p:cNvSpPr/>
          <p:nvPr/>
        </p:nvSpPr>
        <p:spPr>
          <a:xfrm>
            <a:off x="3499338" y="4075604"/>
            <a:ext cx="3499338" cy="2782396"/>
          </a:xfrm>
          <a:prstGeom prst="rect">
            <a:avLst/>
          </a:prstGeom>
          <a:solidFill>
            <a:srgbClr val="00F3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sz="1600" b="1" dirty="0">
              <a:highlight>
                <a:srgbClr val="00F3A2"/>
              </a:highlight>
            </a:endParaRPr>
          </a:p>
          <a:p>
            <a:endParaRPr lang="de-DE" sz="1600" b="1" dirty="0">
              <a:solidFill>
                <a:schemeClr val="tx1"/>
              </a:solidFill>
              <a:highlight>
                <a:srgbClr val="00F3A2"/>
              </a:highlight>
            </a:endParaRPr>
          </a:p>
          <a:p>
            <a:r>
              <a:rPr lang="de-DE" b="1" dirty="0">
                <a:solidFill>
                  <a:schemeClr val="tx1"/>
                </a:solidFill>
                <a:highlight>
                  <a:srgbClr val="00F3A2"/>
                </a:highlight>
              </a:rPr>
              <a:t>FEAR</a:t>
            </a:r>
            <a:endParaRPr lang="de-DE" sz="1600" b="1" dirty="0">
              <a:solidFill>
                <a:schemeClr val="tx1"/>
              </a:solidFill>
              <a:highlight>
                <a:srgbClr val="00F3A2"/>
              </a:highlight>
            </a:endParaRPr>
          </a:p>
          <a:p>
            <a:endParaRPr lang="de-DE" sz="1600" b="1" dirty="0">
              <a:solidFill>
                <a:schemeClr val="tx1"/>
              </a:solidFill>
              <a:highlight>
                <a:srgbClr val="00F3A2"/>
              </a:highlight>
            </a:endParaRPr>
          </a:p>
          <a:p>
            <a:r>
              <a:rPr lang="de-DE" sz="1600" b="1" dirty="0">
                <a:solidFill>
                  <a:schemeClr val="tx1"/>
                </a:solidFill>
              </a:rPr>
              <a:t>He </a:t>
            </a:r>
            <a:r>
              <a:rPr lang="de-DE" sz="1600" b="1" dirty="0" err="1">
                <a:solidFill>
                  <a:schemeClr val="tx1"/>
                </a:solidFill>
              </a:rPr>
              <a:t>is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afraid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that</a:t>
            </a:r>
            <a:r>
              <a:rPr lang="de-DE" sz="1600" b="1" dirty="0">
                <a:solidFill>
                  <a:schemeClr val="tx1"/>
                </a:solidFill>
              </a:rPr>
              <a:t> he </a:t>
            </a:r>
            <a:r>
              <a:rPr lang="de-DE" sz="1600" b="1" dirty="0" err="1">
                <a:solidFill>
                  <a:schemeClr val="tx1"/>
                </a:solidFill>
              </a:rPr>
              <a:t>won't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understand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his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medical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records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properly</a:t>
            </a:r>
            <a:r>
              <a:rPr lang="de-DE" sz="1600" b="1" dirty="0">
                <a:solidFill>
                  <a:schemeClr val="tx1"/>
                </a:solidFill>
              </a:rPr>
              <a:t> and </a:t>
            </a:r>
            <a:r>
              <a:rPr lang="de-DE" sz="1600" b="1" dirty="0" err="1">
                <a:solidFill>
                  <a:schemeClr val="tx1"/>
                </a:solidFill>
              </a:rPr>
              <a:t>therefore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won't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be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able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to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take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the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right</a:t>
            </a:r>
            <a:r>
              <a:rPr lang="de-DE" sz="1600" b="1" dirty="0">
                <a:solidFill>
                  <a:schemeClr val="tx1"/>
                </a:solidFill>
              </a:rPr>
              <a:t> </a:t>
            </a:r>
            <a:r>
              <a:rPr lang="de-DE" sz="1600" b="1" dirty="0" err="1">
                <a:solidFill>
                  <a:schemeClr val="tx1"/>
                </a:solidFill>
              </a:rPr>
              <a:t>precautions</a:t>
            </a:r>
            <a:r>
              <a:rPr lang="de-DE" sz="1600" b="1" dirty="0">
                <a:solidFill>
                  <a:schemeClr val="tx1"/>
                </a:solidFill>
              </a:rPr>
              <a:t>.</a:t>
            </a:r>
            <a:endParaRPr lang="de-DE" sz="1600" b="1" dirty="0">
              <a:solidFill>
                <a:schemeClr val="tx1"/>
              </a:solidFill>
              <a:highlight>
                <a:srgbClr val="00F3A2"/>
              </a:highlight>
            </a:endParaRPr>
          </a:p>
          <a:p>
            <a:endParaRPr lang="de-DE" sz="1600" b="1" dirty="0">
              <a:highlight>
                <a:srgbClr val="00F3A2"/>
              </a:highlight>
            </a:endParaRPr>
          </a:p>
          <a:p>
            <a:endParaRPr lang="de-DE" sz="1600" b="1" dirty="0">
              <a:highlight>
                <a:srgbClr val="00F3A2"/>
              </a:highlight>
            </a:endParaRPr>
          </a:p>
          <a:p>
            <a:endParaRPr lang="de-DE" sz="1600" b="1" dirty="0">
              <a:highlight>
                <a:srgbClr val="00F3A2"/>
              </a:highlight>
            </a:endParaRPr>
          </a:p>
          <a:p>
            <a:endParaRPr lang="de-DE" sz="1600" b="1" dirty="0">
              <a:highlight>
                <a:srgbClr val="00F3A2"/>
              </a:highlight>
            </a:endParaRPr>
          </a:p>
          <a:p>
            <a:endParaRPr lang="de-DE" sz="1600" b="1" dirty="0">
              <a:highlight>
                <a:srgbClr val="00F3A2"/>
              </a:highlight>
            </a:endParaRPr>
          </a:p>
          <a:p>
            <a:endParaRPr lang="de-DE" sz="1600" b="1" dirty="0">
              <a:highlight>
                <a:srgbClr val="00F3A2"/>
              </a:highlight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2F84F1C-8B31-8734-35A3-561173959549}"/>
              </a:ext>
            </a:extLst>
          </p:cNvPr>
          <p:cNvSpPr/>
          <p:nvPr/>
        </p:nvSpPr>
        <p:spPr>
          <a:xfrm>
            <a:off x="6993737" y="3429000"/>
            <a:ext cx="5193324" cy="3429000"/>
          </a:xfrm>
          <a:prstGeom prst="rect">
            <a:avLst/>
          </a:prstGeom>
          <a:solidFill>
            <a:srgbClr val="09C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1400" b="1" dirty="0">
              <a:solidFill>
                <a:schemeClr val="tx1"/>
              </a:solidFill>
              <a:latin typeface="gg sans"/>
            </a:endParaRPr>
          </a:p>
          <a:p>
            <a:r>
              <a:rPr lang="de-DE" sz="3200" b="1" dirty="0"/>
              <a:t>GOAL</a:t>
            </a:r>
            <a:endParaRPr lang="de-DE" sz="2800" b="1" dirty="0"/>
          </a:p>
          <a:p>
            <a:r>
              <a:rPr lang="de-DE" sz="2800" b="1" dirty="0" err="1"/>
              <a:t>Leading</a:t>
            </a:r>
            <a:r>
              <a:rPr lang="de-DE" sz="2800" b="1" dirty="0"/>
              <a:t> a </a:t>
            </a:r>
            <a:r>
              <a:rPr lang="de-DE" sz="2800" b="1" dirty="0" err="1"/>
              <a:t>mindful</a:t>
            </a:r>
            <a:r>
              <a:rPr lang="de-DE" sz="2800" b="1" dirty="0"/>
              <a:t> and </a:t>
            </a:r>
            <a:r>
              <a:rPr lang="de-DE" sz="2800" b="1" dirty="0" err="1"/>
              <a:t>healthy</a:t>
            </a:r>
            <a:r>
              <a:rPr lang="de-DE" sz="2800" b="1" dirty="0"/>
              <a:t> </a:t>
            </a:r>
            <a:r>
              <a:rPr lang="de-DE" sz="2800" b="1" dirty="0" err="1"/>
              <a:t>lifestyle</a:t>
            </a:r>
            <a:r>
              <a:rPr lang="de-DE" sz="2800" b="1" dirty="0"/>
              <a:t> in </a:t>
            </a:r>
            <a:r>
              <a:rPr lang="de-DE" sz="2800" b="1" dirty="0" err="1"/>
              <a:t>order</a:t>
            </a:r>
            <a:r>
              <a:rPr lang="de-DE" sz="2800" b="1" dirty="0"/>
              <a:t> </a:t>
            </a:r>
            <a:r>
              <a:rPr lang="de-DE" sz="2800" b="1" dirty="0" err="1"/>
              <a:t>to</a:t>
            </a:r>
            <a:r>
              <a:rPr lang="de-DE" sz="2800" b="1" dirty="0"/>
              <a:t> </a:t>
            </a:r>
            <a:r>
              <a:rPr lang="de-DE" sz="2800" b="1" dirty="0" err="1"/>
              <a:t>stay</a:t>
            </a:r>
            <a:r>
              <a:rPr lang="de-DE" sz="2800" b="1" dirty="0"/>
              <a:t> fit and </a:t>
            </a:r>
            <a:r>
              <a:rPr lang="de-DE" sz="2800" b="1" dirty="0" err="1"/>
              <a:t>healthy</a:t>
            </a:r>
            <a:r>
              <a:rPr lang="de-DE" sz="2800" b="1" dirty="0"/>
              <a:t> </a:t>
            </a:r>
            <a:r>
              <a:rPr lang="de-DE" sz="2800" b="1" dirty="0" err="1"/>
              <a:t>even</a:t>
            </a:r>
            <a:r>
              <a:rPr lang="de-DE" sz="2800" b="1" dirty="0"/>
              <a:t> in </a:t>
            </a:r>
            <a:r>
              <a:rPr lang="de-DE" sz="2800" b="1" dirty="0" err="1"/>
              <a:t>old</a:t>
            </a:r>
            <a:r>
              <a:rPr lang="de-DE" sz="2800" b="1" dirty="0"/>
              <a:t> </a:t>
            </a:r>
            <a:r>
              <a:rPr lang="de-DE" sz="2800" b="1" dirty="0" err="1"/>
              <a:t>age</a:t>
            </a:r>
            <a:r>
              <a:rPr lang="de-DE" sz="2800" b="1" dirty="0"/>
              <a:t>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052E4EB-19C2-303E-C1D1-DC01C0FB08F3}"/>
              </a:ext>
            </a:extLst>
          </p:cNvPr>
          <p:cNvSpPr txBox="1"/>
          <p:nvPr/>
        </p:nvSpPr>
        <p:spPr>
          <a:xfrm>
            <a:off x="7174355" y="795048"/>
            <a:ext cx="83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Price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5182287-A900-37CC-2572-323607E77937}"/>
              </a:ext>
            </a:extLst>
          </p:cNvPr>
          <p:cNvSpPr txBox="1"/>
          <p:nvPr/>
        </p:nvSpPr>
        <p:spPr>
          <a:xfrm>
            <a:off x="7174355" y="1404648"/>
            <a:ext cx="1094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Comfort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A19B7A6-269E-465D-2E26-94B7CDC7AD01}"/>
              </a:ext>
            </a:extLst>
          </p:cNvPr>
          <p:cNvSpPr txBox="1"/>
          <p:nvPr/>
        </p:nvSpPr>
        <p:spPr>
          <a:xfrm>
            <a:off x="7168577" y="2027317"/>
            <a:ext cx="1094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Speed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8FBD05F-E813-38A2-3756-778888B0DBC2}"/>
              </a:ext>
            </a:extLst>
          </p:cNvPr>
          <p:cNvSpPr txBox="1"/>
          <p:nvPr/>
        </p:nvSpPr>
        <p:spPr>
          <a:xfrm>
            <a:off x="7168577" y="2679669"/>
            <a:ext cx="1094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Trust</a:t>
            </a:r>
          </a:p>
        </p:txBody>
      </p:sp>
      <p:pic>
        <p:nvPicPr>
          <p:cNvPr id="36" name="Grafik 35" descr="Volltreffer mit einfarbiger Füllung">
            <a:extLst>
              <a:ext uri="{FF2B5EF4-FFF2-40B4-BE49-F238E27FC236}">
                <a16:creationId xmlns:a16="http://schemas.microsoft.com/office/drawing/2014/main" id="{5C2139A1-7EB1-ED33-C250-BBE811852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00" y="5878285"/>
            <a:ext cx="914400" cy="914400"/>
          </a:xfrm>
          <a:prstGeom prst="rect">
            <a:avLst/>
          </a:prstGeom>
        </p:spPr>
      </p:pic>
      <p:pic>
        <p:nvPicPr>
          <p:cNvPr id="2055" name="Picture 7" descr="Page 82 | Ai Generated Person Stock Photos, Images and Backgrounds for Free  Download">
            <a:extLst>
              <a:ext uri="{FF2B5EF4-FFF2-40B4-BE49-F238E27FC236}">
                <a16:creationId xmlns:a16="http://schemas.microsoft.com/office/drawing/2014/main" id="{D09AD894-68B1-93DB-ABE8-E94B4F6CC8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3" t="-12" r="12159" b="12"/>
          <a:stretch>
            <a:fillRect/>
          </a:stretch>
        </p:blipFill>
        <p:spPr bwMode="auto">
          <a:xfrm>
            <a:off x="4939" y="1"/>
            <a:ext cx="3494400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CA844FE-9959-2689-AF9F-73D72962E78F}"/>
              </a:ext>
            </a:extLst>
          </p:cNvPr>
          <p:cNvSpPr/>
          <p:nvPr/>
        </p:nvSpPr>
        <p:spPr>
          <a:xfrm>
            <a:off x="3499338" y="-1"/>
            <a:ext cx="3499338" cy="4075605"/>
          </a:xfrm>
          <a:prstGeom prst="rect">
            <a:avLst/>
          </a:prstGeom>
          <a:solidFill>
            <a:srgbClr val="00FFAD">
              <a:alpha val="4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„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Healthy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"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by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 traditional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medical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standards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, but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feels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 "sub-optimal" (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low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energy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,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erratic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 </a:t>
            </a: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sleep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  <a:t>).</a:t>
            </a:r>
            <a:endParaRPr lang="de-DE" b="1" dirty="0">
              <a:solidFill>
                <a:schemeClr val="tx1"/>
              </a:solidFill>
              <a:latin typeface="gg sans"/>
            </a:endParaRPr>
          </a:p>
          <a:p>
            <a:endParaRPr lang="de-DE" sz="1600" b="1" dirty="0"/>
          </a:p>
        </p:txBody>
      </p:sp>
    </p:spTree>
    <p:extLst>
      <p:ext uri="{BB962C8B-B14F-4D97-AF65-F5344CB8AC3E}">
        <p14:creationId xmlns:p14="http://schemas.microsoft.com/office/powerpoint/2010/main" val="122156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41FA-9FC8-4E53-4E8C-1643A7A39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BCD983D0-6CDD-7D65-7668-E7B4102ADF1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altLang="de-DE" b="1" dirty="0" err="1"/>
              <a:t>Reversing</a:t>
            </a:r>
            <a:r>
              <a:rPr lang="de-DE" altLang="de-DE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b="1" dirty="0"/>
              <a:t>Biological Age at </a:t>
            </a:r>
            <a:r>
              <a:rPr lang="de-DE" altLang="de-DE" b="1" dirty="0" err="1"/>
              <a:t>Scale</a:t>
            </a:r>
            <a:br>
              <a:rPr lang="de-DE" dirty="0"/>
            </a:br>
            <a:r>
              <a:rPr lang="de-DE" altLang="de-DE" sz="2200" dirty="0">
                <a:solidFill>
                  <a:srgbClr val="73716E"/>
                </a:solidFill>
              </a:rPr>
              <a:t>North Star: </a:t>
            </a:r>
            <a:r>
              <a:rPr lang="de-DE" altLang="de-DE" sz="2200" dirty="0" err="1">
                <a:solidFill>
                  <a:srgbClr val="73716E"/>
                </a:solidFill>
              </a:rPr>
              <a:t>Δ</a:t>
            </a:r>
            <a:r>
              <a:rPr lang="de-DE" altLang="de-DE" sz="2200" dirty="0">
                <a:solidFill>
                  <a:srgbClr val="73716E"/>
                </a:solidFill>
              </a:rPr>
              <a:t> Biological Age </a:t>
            </a:r>
            <a:r>
              <a:rPr lang="de-DE" altLang="de-DE" sz="2200" dirty="0" err="1">
                <a:solidFill>
                  <a:srgbClr val="73716E"/>
                </a:solidFill>
              </a:rPr>
              <a:t>as</a:t>
            </a:r>
            <a:r>
              <a:rPr lang="de-DE" altLang="de-DE" sz="2200" dirty="0">
                <a:solidFill>
                  <a:srgbClr val="73716E"/>
                </a:solidFill>
              </a:rPr>
              <a:t> </a:t>
            </a:r>
            <a:r>
              <a:rPr lang="de-DE" altLang="de-DE" sz="2200" dirty="0" err="1">
                <a:solidFill>
                  <a:srgbClr val="73716E"/>
                </a:solidFill>
              </a:rPr>
              <a:t>the</a:t>
            </a:r>
            <a:r>
              <a:rPr lang="de-DE" altLang="de-DE" sz="2200" dirty="0">
                <a:solidFill>
                  <a:srgbClr val="73716E"/>
                </a:solidFill>
              </a:rPr>
              <a:t> </a:t>
            </a:r>
            <a:r>
              <a:rPr lang="de-DE" altLang="de-DE" sz="2200" dirty="0" err="1">
                <a:solidFill>
                  <a:srgbClr val="73716E"/>
                </a:solidFill>
              </a:rPr>
              <a:t>core</a:t>
            </a:r>
            <a:r>
              <a:rPr lang="de-DE" altLang="de-DE" sz="2200" dirty="0">
                <a:solidFill>
                  <a:srgbClr val="73716E"/>
                </a:solidFill>
              </a:rPr>
              <a:t> </a:t>
            </a:r>
            <a:r>
              <a:rPr lang="de-DE" altLang="de-DE" sz="2200" dirty="0" err="1">
                <a:solidFill>
                  <a:srgbClr val="73716E"/>
                </a:solidFill>
              </a:rPr>
              <a:t>measure</a:t>
            </a:r>
            <a:r>
              <a:rPr lang="de-DE" altLang="de-DE" sz="2200" dirty="0">
                <a:solidFill>
                  <a:srgbClr val="73716E"/>
                </a:solidFill>
              </a:rPr>
              <a:t> </a:t>
            </a:r>
            <a:r>
              <a:rPr lang="de-DE" altLang="de-DE" sz="2200" dirty="0" err="1">
                <a:solidFill>
                  <a:srgbClr val="73716E"/>
                </a:solidFill>
              </a:rPr>
              <a:t>of</a:t>
            </a:r>
            <a:r>
              <a:rPr lang="de-DE" altLang="de-DE" sz="2200" dirty="0">
                <a:solidFill>
                  <a:srgbClr val="73716E"/>
                </a:solidFill>
              </a:rPr>
              <a:t> </a:t>
            </a:r>
            <a:r>
              <a:rPr lang="de-DE" altLang="de-DE" sz="2200" dirty="0" err="1">
                <a:solidFill>
                  <a:srgbClr val="73716E"/>
                </a:solidFill>
              </a:rPr>
              <a:t>patient</a:t>
            </a:r>
            <a:r>
              <a:rPr lang="de-DE" altLang="de-DE" sz="2200" dirty="0">
                <a:solidFill>
                  <a:srgbClr val="73716E"/>
                </a:solidFill>
              </a:rPr>
              <a:t> </a:t>
            </a:r>
            <a:r>
              <a:rPr lang="de-DE" altLang="de-DE" sz="2200" dirty="0" err="1">
                <a:solidFill>
                  <a:srgbClr val="73716E"/>
                </a:solidFill>
              </a:rPr>
              <a:t>value</a:t>
            </a:r>
            <a:r>
              <a:rPr lang="de-DE" altLang="de-DE" sz="2200" dirty="0">
                <a:solidFill>
                  <a:srgbClr val="73716E"/>
                </a:solidFill>
              </a:rPr>
              <a:t> and </a:t>
            </a:r>
            <a:r>
              <a:rPr lang="de-DE" altLang="de-DE" sz="2200" dirty="0" err="1">
                <a:solidFill>
                  <a:srgbClr val="73716E"/>
                </a:solidFill>
              </a:rPr>
              <a:t>driver</a:t>
            </a:r>
            <a:r>
              <a:rPr lang="de-DE" altLang="de-DE" sz="2200" dirty="0">
                <a:solidFill>
                  <a:srgbClr val="73716E"/>
                </a:solidFill>
              </a:rPr>
              <a:t> </a:t>
            </a:r>
            <a:r>
              <a:rPr lang="de-DE" altLang="de-DE" sz="2200" dirty="0" err="1">
                <a:solidFill>
                  <a:srgbClr val="73716E"/>
                </a:solidFill>
              </a:rPr>
              <a:t>of</a:t>
            </a:r>
            <a:r>
              <a:rPr lang="de-DE" altLang="de-DE" sz="2200" dirty="0">
                <a:solidFill>
                  <a:srgbClr val="73716E"/>
                </a:solidFill>
              </a:rPr>
              <a:t> </a:t>
            </a:r>
            <a:r>
              <a:rPr lang="de-DE" altLang="de-DE" sz="2200" dirty="0" err="1">
                <a:solidFill>
                  <a:srgbClr val="73716E"/>
                </a:solidFill>
              </a:rPr>
              <a:t>revenue</a:t>
            </a:r>
            <a:endParaRPr lang="de-DE" altLang="de-DE" sz="2200" dirty="0">
              <a:solidFill>
                <a:srgbClr val="73716E"/>
              </a:solidFill>
            </a:endParaRPr>
          </a:p>
        </p:txBody>
      </p:sp>
      <p:sp>
        <p:nvSpPr>
          <p:cNvPr id="7" name="Stern mit 5 Zacken 6">
            <a:extLst>
              <a:ext uri="{FF2B5EF4-FFF2-40B4-BE49-F238E27FC236}">
                <a16:creationId xmlns:a16="http://schemas.microsoft.com/office/drawing/2014/main" id="{7D1BEA57-CFA5-CAD6-7FCC-1B848AF1CEFC}"/>
              </a:ext>
            </a:extLst>
          </p:cNvPr>
          <p:cNvSpPr/>
          <p:nvPr/>
        </p:nvSpPr>
        <p:spPr>
          <a:xfrm>
            <a:off x="9109167" y="1724297"/>
            <a:ext cx="2686593" cy="2312126"/>
          </a:xfrm>
          <a:prstGeom prst="star5">
            <a:avLst/>
          </a:prstGeom>
          <a:solidFill>
            <a:srgbClr val="00FFAD"/>
          </a:solidFill>
          <a:ln>
            <a:solidFill>
              <a:srgbClr val="00F3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0650ECD-A14A-6970-2845-622AF5304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826" y="4145672"/>
            <a:ext cx="20312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Δ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Biological Age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ED9215E4-D4E4-C478-980D-400CE00901B3}"/>
              </a:ext>
            </a:extLst>
          </p:cNvPr>
          <p:cNvSpPr/>
          <p:nvPr/>
        </p:nvSpPr>
        <p:spPr>
          <a:xfrm>
            <a:off x="1793967" y="2790817"/>
            <a:ext cx="7315200" cy="1233604"/>
          </a:xfrm>
          <a:custGeom>
            <a:avLst/>
            <a:gdLst>
              <a:gd name="csX0" fmla="*/ 0 w 8151222"/>
              <a:gd name="csY0" fmla="*/ 1555037 h 1555037"/>
              <a:gd name="csX1" fmla="*/ 1175657 w 8151222"/>
              <a:gd name="csY1" fmla="*/ 614512 h 1555037"/>
              <a:gd name="csX2" fmla="*/ 2926080 w 8151222"/>
              <a:gd name="csY2" fmla="*/ 1215403 h 1555037"/>
              <a:gd name="csX3" fmla="*/ 4833257 w 8151222"/>
              <a:gd name="csY3" fmla="*/ 557 h 1555037"/>
              <a:gd name="csX4" fmla="*/ 8151222 w 8151222"/>
              <a:gd name="csY4" fmla="*/ 1058649 h 15550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151222" h="1555037">
                <a:moveTo>
                  <a:pt x="0" y="1555037"/>
                </a:moveTo>
                <a:cubicBezTo>
                  <a:pt x="343988" y="1113077"/>
                  <a:pt x="687977" y="671118"/>
                  <a:pt x="1175657" y="614512"/>
                </a:cubicBezTo>
                <a:cubicBezTo>
                  <a:pt x="1663337" y="557906"/>
                  <a:pt x="2316480" y="1317729"/>
                  <a:pt x="2926080" y="1215403"/>
                </a:cubicBezTo>
                <a:cubicBezTo>
                  <a:pt x="3535680" y="1113077"/>
                  <a:pt x="3962400" y="26683"/>
                  <a:pt x="4833257" y="557"/>
                </a:cubicBezTo>
                <a:cubicBezTo>
                  <a:pt x="5704114" y="-25569"/>
                  <a:pt x="7602582" y="873592"/>
                  <a:pt x="8151222" y="105864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Stern mit 5 Zacken 10">
            <a:extLst>
              <a:ext uri="{FF2B5EF4-FFF2-40B4-BE49-F238E27FC236}">
                <a16:creationId xmlns:a16="http://schemas.microsoft.com/office/drawing/2014/main" id="{3952229D-C148-2D4E-7E93-78AD7F680174}"/>
              </a:ext>
            </a:extLst>
          </p:cNvPr>
          <p:cNvSpPr/>
          <p:nvPr/>
        </p:nvSpPr>
        <p:spPr>
          <a:xfrm>
            <a:off x="1636941" y="3549565"/>
            <a:ext cx="618850" cy="532592"/>
          </a:xfrm>
          <a:prstGeom prst="star5">
            <a:avLst/>
          </a:prstGeom>
          <a:solidFill>
            <a:srgbClr val="00FFAD"/>
          </a:solidFill>
          <a:ln>
            <a:solidFill>
              <a:srgbClr val="00F3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tern mit 5 Zacken 12">
            <a:extLst>
              <a:ext uri="{FF2B5EF4-FFF2-40B4-BE49-F238E27FC236}">
                <a16:creationId xmlns:a16="http://schemas.microsoft.com/office/drawing/2014/main" id="{3E63CEBD-D7CD-04C3-E751-7B26230C98D2}"/>
              </a:ext>
            </a:extLst>
          </p:cNvPr>
          <p:cNvSpPr/>
          <p:nvPr/>
        </p:nvSpPr>
        <p:spPr>
          <a:xfrm>
            <a:off x="5613356" y="2575837"/>
            <a:ext cx="618850" cy="532592"/>
          </a:xfrm>
          <a:prstGeom prst="star5">
            <a:avLst/>
          </a:prstGeom>
          <a:solidFill>
            <a:srgbClr val="00FFAD"/>
          </a:solidFill>
          <a:ln>
            <a:solidFill>
              <a:srgbClr val="00F3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D4B3DEE-F101-DFFE-E81F-C8E15CB82096}"/>
              </a:ext>
            </a:extLst>
          </p:cNvPr>
          <p:cNvSpPr txBox="1"/>
          <p:nvPr/>
        </p:nvSpPr>
        <p:spPr>
          <a:xfrm>
            <a:off x="5330597" y="3429000"/>
            <a:ext cx="2585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Biomarker </a:t>
            </a:r>
            <a:r>
              <a:rPr lang="de-DE" b="1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Improvement</a:t>
            </a:r>
            <a:endParaRPr lang="de-DE" b="1" dirty="0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DD338644-4B38-24A8-0414-F001DA58E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46" y="4325819"/>
            <a:ext cx="27920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Behavior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Change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drives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Engagement &amp;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Conversion</a:t>
            </a:r>
            <a:endParaRPr kumimoji="0" lang="de-DE" altLang="de-D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C0F6D532-2F48-3230-12EC-80C9B3E71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9168" y="4510485"/>
            <a:ext cx="279204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Perceived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life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improvement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drives</a:t>
            </a:r>
            <a:r>
              <a:rPr lang="de-DE" altLang="de-DE" dirty="0">
                <a:latin typeface="-webkit-standard"/>
              </a:rPr>
              <a:t> 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emotional + rational lock-in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94F4BEEA-43F5-071E-4C34-F5286F050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597" y="3746612"/>
            <a:ext cx="29176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Visible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improvement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leads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to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„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This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works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→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what’s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next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?”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79A9558-61FC-3647-6951-FFD62D3CDD5E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C4565213-D400-6707-5445-945E4A0CCC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22" name="Picture 2" descr="Wie ist BCG Platinion als Arbeitgeber? 📈">
              <a:extLst>
                <a:ext uri="{FF2B5EF4-FFF2-40B4-BE49-F238E27FC236}">
                  <a16:creationId xmlns:a16="http://schemas.microsoft.com/office/drawing/2014/main" id="{733EC8A4-C222-EFB8-271B-D7D08EF583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A432857-3D5C-6496-D622-5637E3F85070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45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E5CDD19-EFEB-1731-80B6-37594F50BE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353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b="1" dirty="0" err="1"/>
              <a:t>Turning</a:t>
            </a:r>
            <a:r>
              <a:rPr lang="de-DE" b="1" dirty="0"/>
              <a:t> Engagement </a:t>
            </a:r>
            <a:r>
              <a:rPr lang="de-DE" b="1" dirty="0" err="1"/>
              <a:t>into</a:t>
            </a:r>
            <a:r>
              <a:rPr lang="de-DE" b="1" dirty="0"/>
              <a:t> </a:t>
            </a:r>
            <a:r>
              <a:rPr lang="de-DE" b="1" dirty="0" err="1"/>
              <a:t>Scalable</a:t>
            </a:r>
            <a:r>
              <a:rPr lang="de-DE" b="1" dirty="0"/>
              <a:t> Revenue</a:t>
            </a:r>
            <a:br>
              <a:rPr lang="de-DE" dirty="0"/>
            </a:br>
            <a:r>
              <a:rPr lang="de-DE" sz="2200" dirty="0" err="1">
                <a:solidFill>
                  <a:srgbClr val="73716E"/>
                </a:solidFill>
              </a:rPr>
              <a:t>Monetising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prevention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through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diagnostics</a:t>
            </a:r>
            <a:r>
              <a:rPr lang="de-DE" sz="2200" dirty="0">
                <a:solidFill>
                  <a:srgbClr val="73716E"/>
                </a:solidFill>
              </a:rPr>
              <a:t>, </a:t>
            </a:r>
            <a:r>
              <a:rPr lang="de-DE" sz="2200" dirty="0" err="1">
                <a:solidFill>
                  <a:srgbClr val="73716E"/>
                </a:solidFill>
              </a:rPr>
              <a:t>medical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services</a:t>
            </a:r>
            <a:r>
              <a:rPr lang="de-DE" sz="2200" dirty="0">
                <a:solidFill>
                  <a:srgbClr val="73716E"/>
                </a:solidFill>
              </a:rPr>
              <a:t>, and </a:t>
            </a:r>
            <a:r>
              <a:rPr lang="de-DE" sz="2200" dirty="0" err="1">
                <a:solidFill>
                  <a:srgbClr val="73716E"/>
                </a:solidFill>
              </a:rPr>
              <a:t>supplements</a:t>
            </a:r>
            <a:endParaRPr lang="de-DE" sz="2200" dirty="0">
              <a:solidFill>
                <a:srgbClr val="73716E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CDD2F89-B12B-1441-A9E9-B774F3FF5255}"/>
              </a:ext>
            </a:extLst>
          </p:cNvPr>
          <p:cNvSpPr/>
          <p:nvPr/>
        </p:nvSpPr>
        <p:spPr>
          <a:xfrm>
            <a:off x="838200" y="1690688"/>
            <a:ext cx="3790950" cy="2238375"/>
          </a:xfrm>
          <a:prstGeom prst="rect">
            <a:avLst/>
          </a:prstGeom>
          <a:solidFill>
            <a:srgbClr val="09CC8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sz="2400" b="1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9D86BAE-D447-9F5C-37B3-8EC11D5B91E6}"/>
              </a:ext>
            </a:extLst>
          </p:cNvPr>
          <p:cNvSpPr/>
          <p:nvPr/>
        </p:nvSpPr>
        <p:spPr>
          <a:xfrm>
            <a:off x="838200" y="4048124"/>
            <a:ext cx="3790950" cy="2238375"/>
          </a:xfrm>
          <a:prstGeom prst="rect">
            <a:avLst/>
          </a:prstGeom>
          <a:solidFill>
            <a:srgbClr val="00F3A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0983353-392E-F2AB-7582-3D7F63E1096F}"/>
              </a:ext>
            </a:extLst>
          </p:cNvPr>
          <p:cNvSpPr/>
          <p:nvPr/>
        </p:nvSpPr>
        <p:spPr>
          <a:xfrm>
            <a:off x="4772026" y="1690688"/>
            <a:ext cx="3462338" cy="459581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113F8EE-B642-CBAA-7F00-02B12A431870}"/>
              </a:ext>
            </a:extLst>
          </p:cNvPr>
          <p:cNvSpPr txBox="1"/>
          <p:nvPr/>
        </p:nvSpPr>
        <p:spPr>
          <a:xfrm>
            <a:off x="742217" y="1556972"/>
            <a:ext cx="3790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</a:rPr>
              <a:t>Strategic Model</a:t>
            </a:r>
          </a:p>
          <a:p>
            <a:endParaRPr lang="de-DE" sz="3200" dirty="0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E5EBB9FC-4F42-6642-7D64-EE9058E67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319" y="2148156"/>
            <a:ext cx="34349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monetisation</a:t>
            </a:r>
            <a:endParaRPr kumimoji="0" lang="de-DE" altLang="de-DE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 = 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engagement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conversion</a:t>
            </a: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engine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" name="Grafik 20" descr="Volltreffer mit einfarbiger Füllung">
            <a:extLst>
              <a:ext uri="{FF2B5EF4-FFF2-40B4-BE49-F238E27FC236}">
                <a16:creationId xmlns:a16="http://schemas.microsoft.com/office/drawing/2014/main" id="{52C98BFA-B5C9-AAB2-7031-D2F47E905F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86188" y="3036194"/>
            <a:ext cx="914400" cy="914400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212ED825-3E4A-23B2-97CB-9B56EB1FDD6E}"/>
              </a:ext>
            </a:extLst>
          </p:cNvPr>
          <p:cNvSpPr txBox="1"/>
          <p:nvPr/>
        </p:nvSpPr>
        <p:spPr>
          <a:xfrm>
            <a:off x="742216" y="3940786"/>
            <a:ext cx="4591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Customer Acquisition</a:t>
            </a:r>
          </a:p>
        </p:txBody>
      </p:sp>
      <p:pic>
        <p:nvPicPr>
          <p:cNvPr id="25" name="Grafik 24" descr="Benutzer Silhouette">
            <a:extLst>
              <a:ext uri="{FF2B5EF4-FFF2-40B4-BE49-F238E27FC236}">
                <a16:creationId xmlns:a16="http://schemas.microsoft.com/office/drawing/2014/main" id="{D5A56F3C-DBA2-80A7-447E-0037833B4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1875" y="5326754"/>
            <a:ext cx="1057275" cy="1057275"/>
          </a:xfrm>
          <a:prstGeom prst="rect">
            <a:avLst/>
          </a:prstGeom>
        </p:spPr>
      </p:pic>
      <p:sp>
        <p:nvSpPr>
          <p:cNvPr id="26" name="Rectangle 9">
            <a:extLst>
              <a:ext uri="{FF2B5EF4-FFF2-40B4-BE49-F238E27FC236}">
                <a16:creationId xmlns:a16="http://schemas.microsoft.com/office/drawing/2014/main" id="{6DC163CD-B2D6-816D-DD6B-9C335B939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319" y="4531172"/>
            <a:ext cx="35778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>
                <a:solidFill>
                  <a:srgbClr val="000000"/>
                </a:solidFill>
                <a:latin typeface="Arial" panose="020B0604020202020204" pitchFamily="34" charset="0"/>
              </a:rPr>
              <a:t>Existing</a:t>
            </a:r>
            <a:r>
              <a:rPr lang="de-DE" altLang="de-DE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Arial" panose="020B0604020202020204" pitchFamily="34" charset="0"/>
              </a:rPr>
              <a:t>patient</a:t>
            </a:r>
            <a:r>
              <a:rPr lang="de-DE" altLang="de-DE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Arial" panose="020B0604020202020204" pitchFamily="34" charset="0"/>
              </a:rPr>
              <a:t>base</a:t>
            </a:r>
            <a:r>
              <a:rPr lang="de-DE" altLang="de-DE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de-DE" altLang="de-DE" sz="1600" b="1" dirty="0">
                <a:solidFill>
                  <a:srgbClr val="000000"/>
                </a:solidFill>
                <a:latin typeface="Arial" panose="020B0604020202020204" pitchFamily="34" charset="0"/>
              </a:rPr>
              <a:t>10M </a:t>
            </a:r>
            <a:r>
              <a:rPr lang="de-DE" altLang="de-DE" sz="1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users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>
                <a:solidFill>
                  <a:srgbClr val="000000"/>
                </a:solidFill>
                <a:latin typeface="Arial" panose="020B0604020202020204" pitchFamily="34" charset="0"/>
              </a:rPr>
              <a:t>Clinics</a:t>
            </a:r>
            <a:r>
              <a:rPr lang="de-DE" altLang="de-DE" dirty="0">
                <a:solidFill>
                  <a:srgbClr val="000000"/>
                </a:solidFill>
                <a:latin typeface="Arial" panose="020B0604020202020204" pitchFamily="34" charset="0"/>
              </a:rPr>
              <a:t> &amp; </a:t>
            </a:r>
            <a:r>
              <a:rPr lang="de-DE" altLang="de-DE" dirty="0" err="1">
                <a:solidFill>
                  <a:srgbClr val="000000"/>
                </a:solidFill>
                <a:latin typeface="Arial" panose="020B0604020202020204" pitchFamily="34" charset="0"/>
              </a:rPr>
              <a:t>diagnostics</a:t>
            </a:r>
            <a:r>
              <a:rPr lang="de-DE" altLang="de-DE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Arial" panose="020B0604020202020204" pitchFamily="34" charset="0"/>
              </a:rPr>
              <a:t>centres</a:t>
            </a:r>
            <a:endParaRPr lang="de-DE" altLang="de-DE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b="1" dirty="0" err="1"/>
              <a:t>Near</a:t>
            </a:r>
            <a:r>
              <a:rPr lang="de-DE" b="1" dirty="0"/>
              <a:t>-zero CAC</a:t>
            </a:r>
            <a:endParaRPr lang="de-DE" altLang="de-DE" dirty="0">
              <a:latin typeface="Arial" panose="020B0604020202020204" pitchFamily="34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994DB9D-A789-7A44-2959-5F386D95A638}"/>
              </a:ext>
            </a:extLst>
          </p:cNvPr>
          <p:cNvSpPr txBox="1"/>
          <p:nvPr/>
        </p:nvSpPr>
        <p:spPr>
          <a:xfrm>
            <a:off x="4654612" y="1548400"/>
            <a:ext cx="3790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</a:rPr>
              <a:t>Revenue Streams</a:t>
            </a:r>
          </a:p>
          <a:p>
            <a:endParaRPr lang="de-DE" sz="3200" dirty="0"/>
          </a:p>
        </p:txBody>
      </p:sp>
      <p:pic>
        <p:nvPicPr>
          <p:cNvPr id="32" name="Grafik 31" descr="Aufwärtstrend mit einfarbiger Füllung">
            <a:extLst>
              <a:ext uri="{FF2B5EF4-FFF2-40B4-BE49-F238E27FC236}">
                <a16:creationId xmlns:a16="http://schemas.microsoft.com/office/drawing/2014/main" id="{1EB0C662-DA34-67CD-F187-C4DCC28AF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8050" y="5274301"/>
            <a:ext cx="914400" cy="914400"/>
          </a:xfrm>
          <a:prstGeom prst="rect">
            <a:avLst/>
          </a:prstGeom>
        </p:spPr>
      </p:pic>
      <p:sp>
        <p:nvSpPr>
          <p:cNvPr id="33" name="Rectangle 11">
            <a:extLst>
              <a:ext uri="{FF2B5EF4-FFF2-40B4-BE49-F238E27FC236}">
                <a16:creationId xmlns:a16="http://schemas.microsoft.com/office/drawing/2014/main" id="{FAF27D9F-0D11-22AB-E732-9B3907A2E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130" y="2085676"/>
            <a:ext cx="347543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Diagnostics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(Core)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Longevity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panels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Advanced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testing</a:t>
            </a:r>
            <a:endParaRPr kumimoji="0" lang="de-DE" altLang="de-DE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Medical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Consultations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Preventive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interventions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Supplements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Personalised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stacks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High-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margin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recurring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revenue</a:t>
            </a:r>
            <a:endParaRPr kumimoji="0" lang="de-DE" altLang="de-DE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CB515EA-2B20-1BC4-5BDB-2C5B7E46C083}"/>
              </a:ext>
            </a:extLst>
          </p:cNvPr>
          <p:cNvSpPr/>
          <p:nvPr/>
        </p:nvSpPr>
        <p:spPr>
          <a:xfrm>
            <a:off x="8377239" y="4048124"/>
            <a:ext cx="2976561" cy="2238374"/>
          </a:xfrm>
          <a:prstGeom prst="rect">
            <a:avLst/>
          </a:prstGeom>
          <a:solidFill>
            <a:srgbClr val="01A87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de-DE" sz="1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Diagnostics</a:t>
            </a:r>
            <a:r>
              <a:rPr lang="de-DE" altLang="de-DE" sz="1600" b="1" dirty="0">
                <a:solidFill>
                  <a:srgbClr val="000000"/>
                </a:solidFill>
                <a:latin typeface="Arial" panose="020B0604020202020204" pitchFamily="34" charset="0"/>
              </a:rPr>
              <a:t> → Insight → Engagement → Outcomes → Trust → Re-</a:t>
            </a:r>
            <a:r>
              <a:rPr lang="de-DE" altLang="de-DE" sz="1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testing</a:t>
            </a:r>
            <a:r>
              <a:rPr lang="de-DE" altLang="de-DE" sz="1600" b="1" dirty="0">
                <a:solidFill>
                  <a:srgbClr val="000000"/>
                </a:solidFill>
                <a:latin typeface="Arial" panose="020B0604020202020204" pitchFamily="34" charset="0"/>
              </a:rPr>
              <a:t> → Supplements → </a:t>
            </a:r>
            <a:r>
              <a:rPr lang="de-DE" altLang="de-DE" sz="16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Diagnostics</a:t>
            </a:r>
            <a:endParaRPr lang="de-DE" altLang="de-DE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de-DE" dirty="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D0920D6-36AF-DEE4-64AD-CBDB0E6052E2}"/>
              </a:ext>
            </a:extLst>
          </p:cNvPr>
          <p:cNvSpPr/>
          <p:nvPr/>
        </p:nvSpPr>
        <p:spPr>
          <a:xfrm>
            <a:off x="8377239" y="1712220"/>
            <a:ext cx="2976561" cy="2238374"/>
          </a:xfrm>
          <a:prstGeom prst="rect">
            <a:avLst/>
          </a:prstGeom>
          <a:solidFill>
            <a:srgbClr val="73716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chemeClr val="tx1"/>
                </a:solidFill>
              </a:rPr>
              <a:t>Revenue per </a:t>
            </a:r>
            <a:r>
              <a:rPr lang="de-DE" b="1" dirty="0" err="1">
                <a:solidFill>
                  <a:schemeClr val="tx1"/>
                </a:solidFill>
              </a:rPr>
              <a:t>Active</a:t>
            </a:r>
            <a:r>
              <a:rPr lang="de-DE" b="1" dirty="0">
                <a:solidFill>
                  <a:schemeClr val="tx1"/>
                </a:solidFill>
              </a:rPr>
              <a:t> User (RPU)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D48E67A-DEC4-8A77-B159-CA4378822DAC}"/>
              </a:ext>
            </a:extLst>
          </p:cNvPr>
          <p:cNvSpPr txBox="1"/>
          <p:nvPr/>
        </p:nvSpPr>
        <p:spPr>
          <a:xfrm>
            <a:off x="8255794" y="1568344"/>
            <a:ext cx="3790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</a:rPr>
              <a:t>Business KPI</a:t>
            </a:r>
          </a:p>
          <a:p>
            <a:endParaRPr lang="de-DE" sz="32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1920095-AA4B-CC00-8510-61B317283339}"/>
              </a:ext>
            </a:extLst>
          </p:cNvPr>
          <p:cNvSpPr txBox="1"/>
          <p:nvPr/>
        </p:nvSpPr>
        <p:spPr>
          <a:xfrm>
            <a:off x="8234364" y="3852119"/>
            <a:ext cx="3790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3200" b="1" dirty="0">
              <a:solidFill>
                <a:schemeClr val="bg1"/>
              </a:solidFill>
            </a:endParaRPr>
          </a:p>
          <a:p>
            <a:endParaRPr lang="de-DE" sz="3200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D0EA65A4-54F4-7A5C-516E-C6A3C6CA7E8F}"/>
              </a:ext>
            </a:extLst>
          </p:cNvPr>
          <p:cNvSpPr txBox="1"/>
          <p:nvPr/>
        </p:nvSpPr>
        <p:spPr>
          <a:xfrm>
            <a:off x="8269532" y="3910734"/>
            <a:ext cx="37909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</a:rPr>
              <a:t>Growth Wheel</a:t>
            </a:r>
          </a:p>
          <a:p>
            <a:endParaRPr lang="de-DE" sz="3200" dirty="0"/>
          </a:p>
        </p:txBody>
      </p:sp>
      <p:pic>
        <p:nvPicPr>
          <p:cNvPr id="42" name="Grafik 41" descr="Zahnräder Silhouette">
            <a:extLst>
              <a:ext uri="{FF2B5EF4-FFF2-40B4-BE49-F238E27FC236}">
                <a16:creationId xmlns:a16="http://schemas.microsoft.com/office/drawing/2014/main" id="{6C70A642-29CE-9C5B-5390-897874C0E3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284" y="5548309"/>
            <a:ext cx="914400" cy="914400"/>
          </a:xfrm>
          <a:prstGeom prst="rect">
            <a:avLst/>
          </a:prstGeom>
        </p:spPr>
      </p:pic>
      <p:pic>
        <p:nvPicPr>
          <p:cNvPr id="45" name="Grafik 44" descr="Tachometer niedrig mit einfarbiger Füllung">
            <a:extLst>
              <a:ext uri="{FF2B5EF4-FFF2-40B4-BE49-F238E27FC236}">
                <a16:creationId xmlns:a16="http://schemas.microsoft.com/office/drawing/2014/main" id="{F6F1A8EB-4E36-63E5-2587-B455F756F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39400" y="3218708"/>
            <a:ext cx="914400" cy="914400"/>
          </a:xfrm>
          <a:prstGeom prst="rect">
            <a:avLst/>
          </a:prstGeom>
        </p:spPr>
      </p:pic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EEC3425D-36BD-A48C-1AFC-A8BCB5657A08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8E5397DB-30C8-19FB-CFB2-6D031ED0A8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56" name="Picture 2" descr="Wie ist BCG Platinion als Arbeitgeber? 📈">
              <a:extLst>
                <a:ext uri="{FF2B5EF4-FFF2-40B4-BE49-F238E27FC236}">
                  <a16:creationId xmlns:a16="http://schemas.microsoft.com/office/drawing/2014/main" id="{7FE0AFC3-1FFA-DE34-E1B2-3BD38944F5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0183F28E-6BAF-D565-0C49-890D5D549F1E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354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6899-C107-12F5-9DAB-CEAA276A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5A683E-95BB-0305-E6FF-25AC052A6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 err="1"/>
              <a:t>Longevity</a:t>
            </a:r>
            <a:r>
              <a:rPr lang="de-DE" b="1" dirty="0"/>
              <a:t> Journey</a:t>
            </a:r>
            <a:br>
              <a:rPr lang="de-DE" dirty="0"/>
            </a:br>
            <a:r>
              <a:rPr lang="de-DE" sz="2200" dirty="0">
                <a:solidFill>
                  <a:srgbClr val="73716E"/>
                </a:solidFill>
              </a:rPr>
              <a:t>Building </a:t>
            </a:r>
            <a:r>
              <a:rPr lang="de-DE" sz="2200" dirty="0" err="1">
                <a:solidFill>
                  <a:srgbClr val="73716E"/>
                </a:solidFill>
              </a:rPr>
              <a:t>sustainable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health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through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data</a:t>
            </a:r>
            <a:r>
              <a:rPr lang="de-DE" sz="2200" dirty="0">
                <a:solidFill>
                  <a:srgbClr val="73716E"/>
                </a:solidFill>
              </a:rPr>
              <a:t>, </a:t>
            </a:r>
            <a:r>
              <a:rPr lang="de-DE" sz="2200" dirty="0" err="1">
                <a:solidFill>
                  <a:srgbClr val="73716E"/>
                </a:solidFill>
              </a:rPr>
              <a:t>habits</a:t>
            </a:r>
            <a:r>
              <a:rPr lang="de-DE" sz="2200" dirty="0">
                <a:solidFill>
                  <a:srgbClr val="73716E"/>
                </a:solidFill>
              </a:rPr>
              <a:t>, and </a:t>
            </a:r>
            <a:r>
              <a:rPr lang="de-DE" sz="2200" dirty="0" err="1">
                <a:solidFill>
                  <a:srgbClr val="73716E"/>
                </a:solidFill>
              </a:rPr>
              <a:t>continuous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improvement</a:t>
            </a:r>
            <a:endParaRPr lang="de-DE" dirty="0">
              <a:solidFill>
                <a:srgbClr val="73716E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CDCDB8EA-E5CF-30DA-0623-37C4314B3E6C}"/>
              </a:ext>
            </a:extLst>
          </p:cNvPr>
          <p:cNvSpPr/>
          <p:nvPr/>
        </p:nvSpPr>
        <p:spPr>
          <a:xfrm>
            <a:off x="838200" y="3991130"/>
            <a:ext cx="2095500" cy="367394"/>
          </a:xfrm>
          <a:prstGeom prst="roundRect">
            <a:avLst/>
          </a:prstGeom>
          <a:solidFill>
            <a:srgbClr val="00D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1. Awareness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231F03C9-D13B-95D2-C58A-30078E56B170}"/>
              </a:ext>
            </a:extLst>
          </p:cNvPr>
          <p:cNvSpPr/>
          <p:nvPr/>
        </p:nvSpPr>
        <p:spPr>
          <a:xfrm>
            <a:off x="2933700" y="3991130"/>
            <a:ext cx="1967798" cy="367999"/>
          </a:xfrm>
          <a:prstGeom prst="roundRect">
            <a:avLst/>
          </a:prstGeom>
          <a:solidFill>
            <a:srgbClr val="01A8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2. Deep </a:t>
            </a:r>
            <a:r>
              <a:rPr lang="de-DE" sz="1100" b="1" dirty="0" err="1"/>
              <a:t>Insights</a:t>
            </a:r>
            <a:endParaRPr lang="de-DE" sz="1100" b="1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A3AADCEB-32C3-1F4D-6F6D-7CF50A65B2A5}"/>
              </a:ext>
            </a:extLst>
          </p:cNvPr>
          <p:cNvSpPr/>
          <p:nvPr/>
        </p:nvSpPr>
        <p:spPr>
          <a:xfrm>
            <a:off x="9169399" y="3990524"/>
            <a:ext cx="1967797" cy="367999"/>
          </a:xfrm>
          <a:prstGeom prst="roundRect">
            <a:avLst/>
          </a:prstGeom>
          <a:solidFill>
            <a:srgbClr val="0C6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6. Retention</a:t>
            </a:r>
          </a:p>
        </p:txBody>
      </p:sp>
      <p:sp>
        <p:nvSpPr>
          <p:cNvPr id="50" name="180-Grad-Pfeil 49">
            <a:extLst>
              <a:ext uri="{FF2B5EF4-FFF2-40B4-BE49-F238E27FC236}">
                <a16:creationId xmlns:a16="http://schemas.microsoft.com/office/drawing/2014/main" id="{DA675D02-32BE-B0FD-19A9-FA3941DBD8A0}"/>
              </a:ext>
            </a:extLst>
          </p:cNvPr>
          <p:cNvSpPr/>
          <p:nvPr/>
        </p:nvSpPr>
        <p:spPr>
          <a:xfrm>
            <a:off x="6456162" y="2758128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4. Engagement             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A4C13DF2-93FC-CA61-2911-06A4E20E0ACE}"/>
              </a:ext>
            </a:extLst>
          </p:cNvPr>
          <p:cNvSpPr/>
          <p:nvPr/>
        </p:nvSpPr>
        <p:spPr>
          <a:xfrm>
            <a:off x="4901498" y="3990524"/>
            <a:ext cx="1967798" cy="367999"/>
          </a:xfrm>
          <a:prstGeom prst="roundRect">
            <a:avLst/>
          </a:prstGeom>
          <a:solidFill>
            <a:srgbClr val="0C67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3. </a:t>
            </a:r>
            <a:r>
              <a:rPr lang="de-DE" sz="1100" b="1" dirty="0" err="1"/>
              <a:t>Activation</a:t>
            </a:r>
            <a:endParaRPr lang="de-DE" sz="1100" b="1" dirty="0"/>
          </a:p>
        </p:txBody>
      </p:sp>
      <p:sp>
        <p:nvSpPr>
          <p:cNvPr id="57" name="180-Grad-Pfeil 56">
            <a:extLst>
              <a:ext uri="{FF2B5EF4-FFF2-40B4-BE49-F238E27FC236}">
                <a16:creationId xmlns:a16="http://schemas.microsoft.com/office/drawing/2014/main" id="{06EDFD3C-D7E6-C11F-C33E-472402C4AFF6}"/>
              </a:ext>
            </a:extLst>
          </p:cNvPr>
          <p:cNvSpPr/>
          <p:nvPr/>
        </p:nvSpPr>
        <p:spPr>
          <a:xfrm rot="10800000">
            <a:off x="6311621" y="4358523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8E0657DA-075B-13CB-8B70-E7707ED7F8A3}"/>
              </a:ext>
            </a:extLst>
          </p:cNvPr>
          <p:cNvSpPr txBox="1"/>
          <p:nvPr/>
        </p:nvSpPr>
        <p:spPr>
          <a:xfrm>
            <a:off x="4271746" y="5536947"/>
            <a:ext cx="6826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5. Feedback</a:t>
            </a: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65E2BE78-E5D9-4E31-FDEF-184FF0B50992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7DDAE615-35DF-BDDB-7C7C-020C9F5734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62" name="Picture 2" descr="Wie ist BCG Platinion als Arbeitgeber? 📈">
              <a:extLst>
                <a:ext uri="{FF2B5EF4-FFF2-40B4-BE49-F238E27FC236}">
                  <a16:creationId xmlns:a16="http://schemas.microsoft.com/office/drawing/2014/main" id="{062957A3-5E19-9F22-EDAB-7074500CA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E5330E76-F3EC-36C2-9521-150206223EFA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196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2FCEC-3B4C-EA95-74EE-4280D7E2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40096C-D029-4B01-D979-8CD6E427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 err="1"/>
              <a:t>Longevity</a:t>
            </a:r>
            <a:r>
              <a:rPr lang="de-DE" b="1" dirty="0"/>
              <a:t> Journey</a:t>
            </a:r>
            <a:br>
              <a:rPr lang="de-DE" dirty="0"/>
            </a:br>
            <a:r>
              <a:rPr lang="de-DE" sz="2200" dirty="0">
                <a:solidFill>
                  <a:srgbClr val="73716E"/>
                </a:solidFill>
              </a:rPr>
              <a:t>Building </a:t>
            </a:r>
            <a:r>
              <a:rPr lang="de-DE" sz="2200" dirty="0" err="1">
                <a:solidFill>
                  <a:srgbClr val="73716E"/>
                </a:solidFill>
              </a:rPr>
              <a:t>sustainable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health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through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data</a:t>
            </a:r>
            <a:r>
              <a:rPr lang="de-DE" sz="2200" dirty="0">
                <a:solidFill>
                  <a:srgbClr val="73716E"/>
                </a:solidFill>
              </a:rPr>
              <a:t>, </a:t>
            </a:r>
            <a:r>
              <a:rPr lang="de-DE" sz="2200" dirty="0" err="1">
                <a:solidFill>
                  <a:srgbClr val="73716E"/>
                </a:solidFill>
              </a:rPr>
              <a:t>habits</a:t>
            </a:r>
            <a:r>
              <a:rPr lang="de-DE" sz="2200" dirty="0">
                <a:solidFill>
                  <a:srgbClr val="73716E"/>
                </a:solidFill>
              </a:rPr>
              <a:t>, and </a:t>
            </a:r>
            <a:r>
              <a:rPr lang="de-DE" sz="2200" dirty="0" err="1">
                <a:solidFill>
                  <a:srgbClr val="73716E"/>
                </a:solidFill>
              </a:rPr>
              <a:t>continuous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improvement</a:t>
            </a:r>
            <a:endParaRPr lang="de-DE" dirty="0">
              <a:solidFill>
                <a:srgbClr val="73716E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F741553D-FC5C-2468-7660-903B6B529470}"/>
              </a:ext>
            </a:extLst>
          </p:cNvPr>
          <p:cNvSpPr/>
          <p:nvPr/>
        </p:nvSpPr>
        <p:spPr>
          <a:xfrm>
            <a:off x="814448" y="2079891"/>
            <a:ext cx="4290796" cy="717417"/>
          </a:xfrm>
          <a:prstGeom prst="roundRect">
            <a:avLst/>
          </a:prstGeom>
          <a:solidFill>
            <a:srgbClr val="00D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1. Awareness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1BD4159B-9725-8573-C497-F38FC489B1F7}"/>
              </a:ext>
            </a:extLst>
          </p:cNvPr>
          <p:cNvSpPr/>
          <p:nvPr/>
        </p:nvSpPr>
        <p:spPr>
          <a:xfrm>
            <a:off x="2933700" y="3991130"/>
            <a:ext cx="1967798" cy="367999"/>
          </a:xfrm>
          <a:prstGeom prst="roundRect">
            <a:avLst/>
          </a:prstGeom>
          <a:solidFill>
            <a:srgbClr val="01A870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2. Deep </a:t>
            </a:r>
            <a:r>
              <a:rPr lang="de-DE" sz="1100" b="1" dirty="0" err="1"/>
              <a:t>Insights</a:t>
            </a:r>
            <a:endParaRPr lang="de-DE" sz="1100" b="1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EE5A04F7-D8D7-F87B-2185-A1EEBA999D26}"/>
              </a:ext>
            </a:extLst>
          </p:cNvPr>
          <p:cNvSpPr/>
          <p:nvPr/>
        </p:nvSpPr>
        <p:spPr>
          <a:xfrm>
            <a:off x="9169399" y="3990524"/>
            <a:ext cx="1967797" cy="367999"/>
          </a:xfrm>
          <a:prstGeom prst="roundRect">
            <a:avLst/>
          </a:prstGeom>
          <a:solidFill>
            <a:srgbClr val="0C6040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6. Retention</a:t>
            </a:r>
          </a:p>
        </p:txBody>
      </p:sp>
      <p:sp>
        <p:nvSpPr>
          <p:cNvPr id="50" name="180-Grad-Pfeil 49">
            <a:extLst>
              <a:ext uri="{FF2B5EF4-FFF2-40B4-BE49-F238E27FC236}">
                <a16:creationId xmlns:a16="http://schemas.microsoft.com/office/drawing/2014/main" id="{A7347F79-B922-E733-C3E0-8ABBBA074F69}"/>
              </a:ext>
            </a:extLst>
          </p:cNvPr>
          <p:cNvSpPr/>
          <p:nvPr/>
        </p:nvSpPr>
        <p:spPr>
          <a:xfrm>
            <a:off x="6456162" y="2758128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4. Engagement             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EFA7A699-9586-159E-4DAC-25D096A10784}"/>
              </a:ext>
            </a:extLst>
          </p:cNvPr>
          <p:cNvSpPr/>
          <p:nvPr/>
        </p:nvSpPr>
        <p:spPr>
          <a:xfrm>
            <a:off x="4901498" y="3990524"/>
            <a:ext cx="1967798" cy="367999"/>
          </a:xfrm>
          <a:prstGeom prst="roundRect">
            <a:avLst/>
          </a:prstGeom>
          <a:solidFill>
            <a:srgbClr val="0C6745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3. </a:t>
            </a:r>
            <a:r>
              <a:rPr lang="de-DE" sz="1100" b="1" dirty="0" err="1"/>
              <a:t>Activation</a:t>
            </a:r>
            <a:endParaRPr lang="de-DE" sz="1100" b="1" dirty="0"/>
          </a:p>
        </p:txBody>
      </p:sp>
      <p:sp>
        <p:nvSpPr>
          <p:cNvPr id="57" name="180-Grad-Pfeil 56">
            <a:extLst>
              <a:ext uri="{FF2B5EF4-FFF2-40B4-BE49-F238E27FC236}">
                <a16:creationId xmlns:a16="http://schemas.microsoft.com/office/drawing/2014/main" id="{8BB57875-F13E-1DBC-8FB1-D3FF1A07EE48}"/>
              </a:ext>
            </a:extLst>
          </p:cNvPr>
          <p:cNvSpPr/>
          <p:nvPr/>
        </p:nvSpPr>
        <p:spPr>
          <a:xfrm rot="10800000">
            <a:off x="6311621" y="4358523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5. Feedback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21B54D-6A06-0474-6123-2B603132A5F9}"/>
              </a:ext>
            </a:extLst>
          </p:cNvPr>
          <p:cNvSpPr/>
          <p:nvPr/>
        </p:nvSpPr>
        <p:spPr>
          <a:xfrm>
            <a:off x="838200" y="2825671"/>
            <a:ext cx="5257800" cy="3202150"/>
          </a:xfrm>
          <a:prstGeom prst="rect">
            <a:avLst/>
          </a:prstGeom>
          <a:solidFill>
            <a:schemeClr val="bg1">
              <a:alpha val="86757"/>
            </a:schemeClr>
          </a:solidFill>
          <a:ln>
            <a:solidFill>
              <a:srgbClr val="01A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8662DA2-5694-6654-4D4D-9CA9FECCDF55}"/>
              </a:ext>
            </a:extLst>
          </p:cNvPr>
          <p:cNvGrpSpPr/>
          <p:nvPr/>
        </p:nvGrpSpPr>
        <p:grpSpPr>
          <a:xfrm>
            <a:off x="1133048" y="3818325"/>
            <a:ext cx="873260" cy="792375"/>
            <a:chOff x="4564547" y="3429000"/>
            <a:chExt cx="1487002" cy="1487002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A63323-F71B-7B34-D913-360F75E171F7}"/>
                </a:ext>
              </a:extLst>
            </p:cNvPr>
            <p:cNvSpPr/>
            <p:nvPr/>
          </p:nvSpPr>
          <p:spPr>
            <a:xfrm>
              <a:off x="4564547" y="3429000"/>
              <a:ext cx="1487002" cy="148700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A998FF8A-74CC-0638-8C5F-5BA8FB3800CF}"/>
                </a:ext>
              </a:extLst>
            </p:cNvPr>
            <p:cNvGrpSpPr/>
            <p:nvPr/>
          </p:nvGrpSpPr>
          <p:grpSpPr>
            <a:xfrm>
              <a:off x="4841338" y="3633537"/>
              <a:ext cx="1082657" cy="1131717"/>
              <a:chOff x="6833102" y="1690688"/>
              <a:chExt cx="914400" cy="914400"/>
            </a:xfrm>
          </p:grpSpPr>
          <p:pic>
            <p:nvPicPr>
              <p:cNvPr id="19" name="Grafik 18" descr="Medizin Silhouette">
                <a:extLst>
                  <a:ext uri="{FF2B5EF4-FFF2-40B4-BE49-F238E27FC236}">
                    <a16:creationId xmlns:a16="http://schemas.microsoft.com/office/drawing/2014/main" id="{B7D5FBD6-964B-0417-1F56-19BF9125F1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833102" y="169068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0" name="Grafik 19" descr="QR-Code mit einfarbiger Füllung">
                <a:extLst>
                  <a:ext uri="{FF2B5EF4-FFF2-40B4-BE49-F238E27FC236}">
                    <a16:creationId xmlns:a16="http://schemas.microsoft.com/office/drawing/2014/main" id="{10E9E308-A243-7C9E-959A-AE79F8610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989197" y="1930676"/>
                <a:ext cx="447577" cy="447577"/>
              </a:xfrm>
              <a:prstGeom prst="rect">
                <a:avLst/>
              </a:prstGeom>
            </p:spPr>
          </p:pic>
        </p:grp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D558E3CD-FC4D-5D83-38B9-0F869E7603E3}"/>
              </a:ext>
            </a:extLst>
          </p:cNvPr>
          <p:cNvGrpSpPr/>
          <p:nvPr/>
        </p:nvGrpSpPr>
        <p:grpSpPr>
          <a:xfrm>
            <a:off x="1630235" y="4219813"/>
            <a:ext cx="878154" cy="786991"/>
            <a:chOff x="5731444" y="1263057"/>
            <a:chExt cx="1487002" cy="148700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3FA706F-B56E-A2AA-274F-B776C35FCA1D}"/>
                </a:ext>
              </a:extLst>
            </p:cNvPr>
            <p:cNvSpPr/>
            <p:nvPr/>
          </p:nvSpPr>
          <p:spPr>
            <a:xfrm>
              <a:off x="5731444" y="1263057"/>
              <a:ext cx="1487002" cy="148700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397AE93D-DBA5-6121-BA6C-24CDB3826583}"/>
                </a:ext>
              </a:extLst>
            </p:cNvPr>
            <p:cNvGrpSpPr/>
            <p:nvPr/>
          </p:nvGrpSpPr>
          <p:grpSpPr>
            <a:xfrm>
              <a:off x="5954895" y="1443789"/>
              <a:ext cx="1107641" cy="1072098"/>
              <a:chOff x="8981601" y="1690688"/>
              <a:chExt cx="914400" cy="914400"/>
            </a:xfrm>
          </p:grpSpPr>
          <p:pic>
            <p:nvPicPr>
              <p:cNvPr id="9" name="Grafik 8" descr="Papier mit einfarbiger Füllung">
                <a:extLst>
                  <a:ext uri="{FF2B5EF4-FFF2-40B4-BE49-F238E27FC236}">
                    <a16:creationId xmlns:a16="http://schemas.microsoft.com/office/drawing/2014/main" id="{73DC6436-EAE9-2A49-FE04-C60C7F6047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981601" y="169068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7" name="Grafik 16" descr="QR-Code mit einfarbiger Füllung">
                <a:extLst>
                  <a:ext uri="{FF2B5EF4-FFF2-40B4-BE49-F238E27FC236}">
                    <a16:creationId xmlns:a16="http://schemas.microsoft.com/office/drawing/2014/main" id="{1033D480-A886-47E0-15FF-2D484117B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294107" y="2110031"/>
                <a:ext cx="289387" cy="289387"/>
              </a:xfrm>
              <a:prstGeom prst="rect">
                <a:avLst/>
              </a:prstGeom>
            </p:spPr>
          </p:pic>
        </p:grpSp>
      </p:grpSp>
      <p:sp>
        <p:nvSpPr>
          <p:cNvPr id="35" name="Textfeld 34">
            <a:extLst>
              <a:ext uri="{FF2B5EF4-FFF2-40B4-BE49-F238E27FC236}">
                <a16:creationId xmlns:a16="http://schemas.microsoft.com/office/drawing/2014/main" id="{E45C3639-B191-D9E1-EF8D-3591728D58B3}"/>
              </a:ext>
            </a:extLst>
          </p:cNvPr>
          <p:cNvSpPr txBox="1"/>
          <p:nvPr/>
        </p:nvSpPr>
        <p:spPr>
          <a:xfrm>
            <a:off x="1859669" y="3006711"/>
            <a:ext cx="3425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Do I </a:t>
            </a:r>
            <a:r>
              <a:rPr lang="de-DE" b="1" dirty="0" err="1"/>
              <a:t>need</a:t>
            </a:r>
            <a:r>
              <a:rPr lang="de-DE" b="1" dirty="0"/>
              <a:t> </a:t>
            </a:r>
            <a:r>
              <a:rPr lang="de-DE" b="1" dirty="0" err="1"/>
              <a:t>this</a:t>
            </a:r>
            <a:r>
              <a:rPr lang="de-DE" b="1" dirty="0"/>
              <a:t>?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C6E884E-D3E9-817C-E8CB-C82D9C41A9C3}"/>
              </a:ext>
            </a:extLst>
          </p:cNvPr>
          <p:cNvSpPr txBox="1"/>
          <p:nvPr/>
        </p:nvSpPr>
        <p:spPr>
          <a:xfrm>
            <a:off x="2602037" y="3893110"/>
            <a:ext cx="3221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Scan </a:t>
            </a:r>
            <a:r>
              <a:rPr lang="de-DE" dirty="0" err="1"/>
              <a:t>medical</a:t>
            </a:r>
            <a:r>
              <a:rPr lang="de-DE" dirty="0"/>
              <a:t> </a:t>
            </a:r>
            <a:r>
              <a:rPr lang="de-DE" dirty="0" err="1"/>
              <a:t>reports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supplements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import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and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health</a:t>
            </a:r>
            <a:r>
              <a:rPr lang="de-DE" dirty="0"/>
              <a:t> </a:t>
            </a:r>
            <a:r>
              <a:rPr lang="de-DE" dirty="0" err="1"/>
              <a:t>situation</a:t>
            </a:r>
            <a:r>
              <a:rPr lang="de-DE" dirty="0"/>
              <a:t>.</a:t>
            </a: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9370ED15-5A79-46C8-A634-AF2CF5E1DEC6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71E47040-1470-D1EB-8640-508DFDFC86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39" name="Picture 2" descr="Wie ist BCG Platinion als Arbeitgeber? 📈">
              <a:extLst>
                <a:ext uri="{FF2B5EF4-FFF2-40B4-BE49-F238E27FC236}">
                  <a16:creationId xmlns:a16="http://schemas.microsoft.com/office/drawing/2014/main" id="{481967ED-872F-0CA0-26FB-B748C0BAF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C830DAA1-BE01-E5B2-2D9B-49328628F325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6165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7627C-9C98-2E79-D095-B7266B4B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A5172E-E24A-ED63-E31E-C58D5499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 err="1"/>
              <a:t>Longevity</a:t>
            </a:r>
            <a:r>
              <a:rPr lang="de-DE" b="1" dirty="0"/>
              <a:t> Journey</a:t>
            </a:r>
            <a:br>
              <a:rPr lang="de-DE" dirty="0"/>
            </a:br>
            <a:r>
              <a:rPr lang="de-DE" sz="2200" dirty="0">
                <a:solidFill>
                  <a:srgbClr val="73716E"/>
                </a:solidFill>
              </a:rPr>
              <a:t>Building </a:t>
            </a:r>
            <a:r>
              <a:rPr lang="de-DE" sz="2200" dirty="0" err="1">
                <a:solidFill>
                  <a:srgbClr val="73716E"/>
                </a:solidFill>
              </a:rPr>
              <a:t>sustainable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health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through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data</a:t>
            </a:r>
            <a:r>
              <a:rPr lang="de-DE" sz="2200" dirty="0">
                <a:solidFill>
                  <a:srgbClr val="73716E"/>
                </a:solidFill>
              </a:rPr>
              <a:t>, </a:t>
            </a:r>
            <a:r>
              <a:rPr lang="de-DE" sz="2200" dirty="0" err="1">
                <a:solidFill>
                  <a:srgbClr val="73716E"/>
                </a:solidFill>
              </a:rPr>
              <a:t>habits</a:t>
            </a:r>
            <a:r>
              <a:rPr lang="de-DE" sz="2200" dirty="0">
                <a:solidFill>
                  <a:srgbClr val="73716E"/>
                </a:solidFill>
              </a:rPr>
              <a:t>, and </a:t>
            </a:r>
            <a:r>
              <a:rPr lang="de-DE" sz="2200" dirty="0" err="1">
                <a:solidFill>
                  <a:srgbClr val="73716E"/>
                </a:solidFill>
              </a:rPr>
              <a:t>continuous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improvement</a:t>
            </a:r>
            <a:endParaRPr lang="de-DE" dirty="0">
              <a:solidFill>
                <a:srgbClr val="73716E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D34E86BD-C4AA-30A1-ED82-3B12C0E68259}"/>
              </a:ext>
            </a:extLst>
          </p:cNvPr>
          <p:cNvSpPr/>
          <p:nvPr/>
        </p:nvSpPr>
        <p:spPr>
          <a:xfrm>
            <a:off x="838200" y="3990523"/>
            <a:ext cx="1961724" cy="368000"/>
          </a:xfrm>
          <a:prstGeom prst="roundRect">
            <a:avLst/>
          </a:prstGeom>
          <a:solidFill>
            <a:srgbClr val="00D08B">
              <a:alpha val="2591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1. Awareness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78F665C5-FF8B-89E4-0FD6-2B63C50FAC92}"/>
              </a:ext>
            </a:extLst>
          </p:cNvPr>
          <p:cNvSpPr/>
          <p:nvPr/>
        </p:nvSpPr>
        <p:spPr>
          <a:xfrm>
            <a:off x="2457740" y="2038761"/>
            <a:ext cx="4290795" cy="646331"/>
          </a:xfrm>
          <a:prstGeom prst="roundRect">
            <a:avLst/>
          </a:prstGeom>
          <a:solidFill>
            <a:srgbClr val="01A8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2. Deep </a:t>
            </a:r>
            <a:r>
              <a:rPr lang="de-DE" sz="2000" b="1" dirty="0" err="1"/>
              <a:t>Insights</a:t>
            </a:r>
            <a:endParaRPr lang="de-DE" sz="2000" b="1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6427FC8D-459F-355F-84C4-1A2726BF6473}"/>
              </a:ext>
            </a:extLst>
          </p:cNvPr>
          <p:cNvSpPr/>
          <p:nvPr/>
        </p:nvSpPr>
        <p:spPr>
          <a:xfrm>
            <a:off x="9169399" y="3990524"/>
            <a:ext cx="1967797" cy="367999"/>
          </a:xfrm>
          <a:prstGeom prst="roundRect">
            <a:avLst/>
          </a:prstGeom>
          <a:solidFill>
            <a:srgbClr val="0C6040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6. Retention</a:t>
            </a:r>
          </a:p>
        </p:txBody>
      </p:sp>
      <p:sp>
        <p:nvSpPr>
          <p:cNvPr id="50" name="180-Grad-Pfeil 49">
            <a:extLst>
              <a:ext uri="{FF2B5EF4-FFF2-40B4-BE49-F238E27FC236}">
                <a16:creationId xmlns:a16="http://schemas.microsoft.com/office/drawing/2014/main" id="{3B3FFB9B-EEA1-3CB7-61EB-6E2E8DB0712D}"/>
              </a:ext>
            </a:extLst>
          </p:cNvPr>
          <p:cNvSpPr/>
          <p:nvPr/>
        </p:nvSpPr>
        <p:spPr>
          <a:xfrm>
            <a:off x="6456162" y="2758128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4. Engagement             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788FD030-7505-C1D5-746F-C6D6CAB91A29}"/>
              </a:ext>
            </a:extLst>
          </p:cNvPr>
          <p:cNvSpPr/>
          <p:nvPr/>
        </p:nvSpPr>
        <p:spPr>
          <a:xfrm>
            <a:off x="4901498" y="3990524"/>
            <a:ext cx="1967798" cy="367999"/>
          </a:xfrm>
          <a:prstGeom prst="roundRect">
            <a:avLst/>
          </a:prstGeom>
          <a:solidFill>
            <a:srgbClr val="0C6745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3. </a:t>
            </a:r>
            <a:r>
              <a:rPr lang="de-DE" sz="1100" b="1" dirty="0" err="1"/>
              <a:t>Activation</a:t>
            </a:r>
            <a:endParaRPr lang="de-DE" sz="1100" b="1" dirty="0"/>
          </a:p>
        </p:txBody>
      </p:sp>
      <p:sp>
        <p:nvSpPr>
          <p:cNvPr id="57" name="180-Grad-Pfeil 56">
            <a:extLst>
              <a:ext uri="{FF2B5EF4-FFF2-40B4-BE49-F238E27FC236}">
                <a16:creationId xmlns:a16="http://schemas.microsoft.com/office/drawing/2014/main" id="{7D6A342B-41C6-1C7E-F7F2-94CA470A2298}"/>
              </a:ext>
            </a:extLst>
          </p:cNvPr>
          <p:cNvSpPr/>
          <p:nvPr/>
        </p:nvSpPr>
        <p:spPr>
          <a:xfrm rot="10800000">
            <a:off x="6311621" y="4358523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5. Feedback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5E1F772-5A3D-1BE3-E083-972634EE5DA3}"/>
              </a:ext>
            </a:extLst>
          </p:cNvPr>
          <p:cNvSpPr/>
          <p:nvPr/>
        </p:nvSpPr>
        <p:spPr>
          <a:xfrm>
            <a:off x="2471127" y="2714399"/>
            <a:ext cx="5257800" cy="3202150"/>
          </a:xfrm>
          <a:prstGeom prst="rect">
            <a:avLst/>
          </a:prstGeom>
          <a:solidFill>
            <a:schemeClr val="bg1">
              <a:alpha val="86757"/>
            </a:schemeClr>
          </a:solidFill>
          <a:ln>
            <a:solidFill>
              <a:srgbClr val="01A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13C945EF-AA2D-4C64-C5DD-00C9DC930006}"/>
              </a:ext>
            </a:extLst>
          </p:cNvPr>
          <p:cNvGrpSpPr/>
          <p:nvPr/>
        </p:nvGrpSpPr>
        <p:grpSpPr>
          <a:xfrm>
            <a:off x="3053180" y="3537284"/>
            <a:ext cx="1554915" cy="1018447"/>
            <a:chOff x="8696224" y="1749005"/>
            <a:chExt cx="1345469" cy="914400"/>
          </a:xfrm>
        </p:grpSpPr>
        <p:pic>
          <p:nvPicPr>
            <p:cNvPr id="5" name="Grafik 4" descr="Verbandskasten mit einfarbiger Füllung">
              <a:extLst>
                <a:ext uri="{FF2B5EF4-FFF2-40B4-BE49-F238E27FC236}">
                  <a16:creationId xmlns:a16="http://schemas.microsoft.com/office/drawing/2014/main" id="{9EC5A6E9-CF1C-6AF1-4823-3C42E670AA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23317" y="1749005"/>
              <a:ext cx="914400" cy="914400"/>
            </a:xfrm>
            <a:prstGeom prst="rect">
              <a:avLst/>
            </a:prstGeom>
          </p:spPr>
        </p:pic>
        <p:pic>
          <p:nvPicPr>
            <p:cNvPr id="10" name="Grafik 9" descr="Binär mit einfarbiger Füllung">
              <a:extLst>
                <a:ext uri="{FF2B5EF4-FFF2-40B4-BE49-F238E27FC236}">
                  <a16:creationId xmlns:a16="http://schemas.microsoft.com/office/drawing/2014/main" id="{3C9D5AAC-6BF5-7EF8-F0FC-9DA7889A02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96224" y="2048319"/>
              <a:ext cx="454186" cy="454186"/>
            </a:xfrm>
            <a:prstGeom prst="rect">
              <a:avLst/>
            </a:prstGeom>
          </p:spPr>
        </p:pic>
        <p:pic>
          <p:nvPicPr>
            <p:cNvPr id="14" name="Grafik 13" descr="Binär mit einfarbiger Füllung">
              <a:extLst>
                <a:ext uri="{FF2B5EF4-FFF2-40B4-BE49-F238E27FC236}">
                  <a16:creationId xmlns:a16="http://schemas.microsoft.com/office/drawing/2014/main" id="{802E5BD2-EFB7-2543-E4B8-4AC5CFE042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87507" y="2029488"/>
              <a:ext cx="454186" cy="454186"/>
            </a:xfrm>
            <a:prstGeom prst="rect">
              <a:avLst/>
            </a:prstGeom>
          </p:spPr>
        </p:pic>
      </p:grpSp>
      <p:pic>
        <p:nvPicPr>
          <p:cNvPr id="24" name="Grafik 23" descr="Glühbirne und Zahnrad mit einfarbiger Füllung">
            <a:extLst>
              <a:ext uri="{FF2B5EF4-FFF2-40B4-BE49-F238E27FC236}">
                <a16:creationId xmlns:a16="http://schemas.microsoft.com/office/drawing/2014/main" id="{2C635452-4860-D72D-98B0-AB421F8CB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0380" y="3589307"/>
            <a:ext cx="914400" cy="914400"/>
          </a:xfrm>
          <a:prstGeom prst="rect">
            <a:avLst/>
          </a:prstGeom>
        </p:spPr>
      </p:pic>
      <p:sp>
        <p:nvSpPr>
          <p:cNvPr id="25" name="Pfeil nach rechts 24">
            <a:extLst>
              <a:ext uri="{FF2B5EF4-FFF2-40B4-BE49-F238E27FC236}">
                <a16:creationId xmlns:a16="http://schemas.microsoft.com/office/drawing/2014/main" id="{8AAD5699-13F4-5B31-34E1-CE6F348F6818}"/>
              </a:ext>
            </a:extLst>
          </p:cNvPr>
          <p:cNvSpPr/>
          <p:nvPr/>
        </p:nvSpPr>
        <p:spPr>
          <a:xfrm>
            <a:off x="4792054" y="3918615"/>
            <a:ext cx="904366" cy="367999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BCA876A-7874-3E91-D54B-6BC0F35D3F81}"/>
              </a:ext>
            </a:extLst>
          </p:cNvPr>
          <p:cNvSpPr txBox="1"/>
          <p:nvPr/>
        </p:nvSpPr>
        <p:spPr>
          <a:xfrm>
            <a:off x="3084018" y="2929889"/>
            <a:ext cx="3425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What‘s</a:t>
            </a:r>
            <a:r>
              <a:rPr lang="de-DE" b="1" dirty="0"/>
              <a:t> </a:t>
            </a:r>
            <a:r>
              <a:rPr lang="de-DE" b="1" dirty="0" err="1"/>
              <a:t>my</a:t>
            </a:r>
            <a:r>
              <a:rPr lang="de-DE" b="1" dirty="0"/>
              <a:t> </a:t>
            </a:r>
            <a:r>
              <a:rPr lang="de-DE" b="1" dirty="0" err="1"/>
              <a:t>situation</a:t>
            </a:r>
            <a:r>
              <a:rPr lang="de-DE" b="1" dirty="0"/>
              <a:t>?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9C4AA78-9429-592D-C68C-9EF31F5307C9}"/>
              </a:ext>
            </a:extLst>
          </p:cNvPr>
          <p:cNvSpPr txBox="1"/>
          <p:nvPr/>
        </p:nvSpPr>
        <p:spPr>
          <a:xfrm>
            <a:off x="2597005" y="4534397"/>
            <a:ext cx="48509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Add additional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medical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or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personal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data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such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as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wearable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data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or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past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medical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reports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to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generate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biomarkers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like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biological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age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as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well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as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risk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assessments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 and </a:t>
            </a:r>
            <a:r>
              <a:rPr lang="de-DE" altLang="de-DE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recommendations</a:t>
            </a:r>
            <a:r>
              <a:rPr lang="de-DE" altLang="de-DE" sz="16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FF00BBA5-AB5A-3B5A-8196-E4647922BC88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15D5D1F7-55DC-FAE3-3E7F-1B2FDB3577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40" name="Picture 2" descr="Wie ist BCG Platinion als Arbeitgeber? 📈">
              <a:extLst>
                <a:ext uri="{FF2B5EF4-FFF2-40B4-BE49-F238E27FC236}">
                  <a16:creationId xmlns:a16="http://schemas.microsoft.com/office/drawing/2014/main" id="{7B6F0C97-D6CA-7C33-CADF-64B2DA8F1F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0C561E60-9361-3948-B58C-653703E9A4D1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8766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3894-1DDC-137B-A950-485DA7D4A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8C58B-83A5-9911-A552-B65B26D4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 err="1"/>
              <a:t>Longevity</a:t>
            </a:r>
            <a:r>
              <a:rPr lang="de-DE" b="1" dirty="0"/>
              <a:t> Journey</a:t>
            </a:r>
            <a:br>
              <a:rPr lang="de-DE" dirty="0"/>
            </a:br>
            <a:r>
              <a:rPr lang="de-DE" sz="2200" dirty="0">
                <a:solidFill>
                  <a:srgbClr val="73716E"/>
                </a:solidFill>
              </a:rPr>
              <a:t>Building </a:t>
            </a:r>
            <a:r>
              <a:rPr lang="de-DE" sz="2200" dirty="0" err="1">
                <a:solidFill>
                  <a:srgbClr val="73716E"/>
                </a:solidFill>
              </a:rPr>
              <a:t>sustainable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health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through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data</a:t>
            </a:r>
            <a:r>
              <a:rPr lang="de-DE" sz="2200" dirty="0">
                <a:solidFill>
                  <a:srgbClr val="73716E"/>
                </a:solidFill>
              </a:rPr>
              <a:t>, </a:t>
            </a:r>
            <a:r>
              <a:rPr lang="de-DE" sz="2200" dirty="0" err="1">
                <a:solidFill>
                  <a:srgbClr val="73716E"/>
                </a:solidFill>
              </a:rPr>
              <a:t>habits</a:t>
            </a:r>
            <a:r>
              <a:rPr lang="de-DE" sz="2200" dirty="0">
                <a:solidFill>
                  <a:srgbClr val="73716E"/>
                </a:solidFill>
              </a:rPr>
              <a:t>, and </a:t>
            </a:r>
            <a:r>
              <a:rPr lang="de-DE" sz="2200" dirty="0" err="1">
                <a:solidFill>
                  <a:srgbClr val="73716E"/>
                </a:solidFill>
              </a:rPr>
              <a:t>continuous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improvement</a:t>
            </a:r>
            <a:endParaRPr lang="de-DE" dirty="0">
              <a:solidFill>
                <a:srgbClr val="73716E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A38B239E-CC98-55BB-7A50-EEA6272DADE6}"/>
              </a:ext>
            </a:extLst>
          </p:cNvPr>
          <p:cNvSpPr/>
          <p:nvPr/>
        </p:nvSpPr>
        <p:spPr>
          <a:xfrm>
            <a:off x="838200" y="3990523"/>
            <a:ext cx="1961724" cy="368000"/>
          </a:xfrm>
          <a:prstGeom prst="roundRect">
            <a:avLst/>
          </a:prstGeom>
          <a:solidFill>
            <a:srgbClr val="00D08B">
              <a:alpha val="2591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1. Awareness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446831F3-9615-DF9B-C47D-1CA5604A3975}"/>
              </a:ext>
            </a:extLst>
          </p:cNvPr>
          <p:cNvSpPr/>
          <p:nvPr/>
        </p:nvSpPr>
        <p:spPr>
          <a:xfrm>
            <a:off x="2799924" y="3990523"/>
            <a:ext cx="1961724" cy="368000"/>
          </a:xfrm>
          <a:prstGeom prst="roundRect">
            <a:avLst/>
          </a:prstGeom>
          <a:solidFill>
            <a:srgbClr val="01A870">
              <a:alpha val="270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2. Deep </a:t>
            </a:r>
            <a:r>
              <a:rPr lang="de-DE" sz="1200" b="1" dirty="0" err="1"/>
              <a:t>Insights</a:t>
            </a:r>
            <a:endParaRPr lang="de-DE" sz="1200" b="1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DA7A33F3-102A-386C-B9D2-3D47D5AD60FB}"/>
              </a:ext>
            </a:extLst>
          </p:cNvPr>
          <p:cNvSpPr/>
          <p:nvPr/>
        </p:nvSpPr>
        <p:spPr>
          <a:xfrm>
            <a:off x="9169399" y="3990524"/>
            <a:ext cx="1967797" cy="367999"/>
          </a:xfrm>
          <a:prstGeom prst="roundRect">
            <a:avLst/>
          </a:prstGeom>
          <a:solidFill>
            <a:srgbClr val="0C6040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6. Retention</a:t>
            </a:r>
          </a:p>
        </p:txBody>
      </p:sp>
      <p:sp>
        <p:nvSpPr>
          <p:cNvPr id="50" name="180-Grad-Pfeil 49">
            <a:extLst>
              <a:ext uri="{FF2B5EF4-FFF2-40B4-BE49-F238E27FC236}">
                <a16:creationId xmlns:a16="http://schemas.microsoft.com/office/drawing/2014/main" id="{2E4BBD26-655D-6E11-F06A-1DDFB3CABB94}"/>
              </a:ext>
            </a:extLst>
          </p:cNvPr>
          <p:cNvSpPr/>
          <p:nvPr/>
        </p:nvSpPr>
        <p:spPr>
          <a:xfrm>
            <a:off x="6456162" y="2758128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4. Engagement             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3DE9ADD6-3DD8-BC01-BF30-3F5746CF921A}"/>
              </a:ext>
            </a:extLst>
          </p:cNvPr>
          <p:cNvSpPr/>
          <p:nvPr/>
        </p:nvSpPr>
        <p:spPr>
          <a:xfrm>
            <a:off x="3582225" y="1994385"/>
            <a:ext cx="4290795" cy="646331"/>
          </a:xfrm>
          <a:prstGeom prst="roundRect">
            <a:avLst/>
          </a:prstGeom>
          <a:solidFill>
            <a:srgbClr val="0C67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3. </a:t>
            </a:r>
            <a:r>
              <a:rPr lang="de-DE" sz="2000" b="1" dirty="0" err="1"/>
              <a:t>Activation</a:t>
            </a:r>
            <a:endParaRPr lang="de-DE" sz="2000" b="1" dirty="0"/>
          </a:p>
        </p:txBody>
      </p:sp>
      <p:sp>
        <p:nvSpPr>
          <p:cNvPr id="57" name="180-Grad-Pfeil 56">
            <a:extLst>
              <a:ext uri="{FF2B5EF4-FFF2-40B4-BE49-F238E27FC236}">
                <a16:creationId xmlns:a16="http://schemas.microsoft.com/office/drawing/2014/main" id="{5E58E96D-28D4-0781-7A2A-61FBAF1CC841}"/>
              </a:ext>
            </a:extLst>
          </p:cNvPr>
          <p:cNvSpPr/>
          <p:nvPr/>
        </p:nvSpPr>
        <p:spPr>
          <a:xfrm rot="10800000">
            <a:off x="6311621" y="4358523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5. Feedback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29FF244-8BCC-9255-4C4F-50B4B5344F10}"/>
              </a:ext>
            </a:extLst>
          </p:cNvPr>
          <p:cNvSpPr/>
          <p:nvPr/>
        </p:nvSpPr>
        <p:spPr>
          <a:xfrm>
            <a:off x="3599249" y="2671145"/>
            <a:ext cx="5257800" cy="3202150"/>
          </a:xfrm>
          <a:prstGeom prst="rect">
            <a:avLst/>
          </a:prstGeom>
          <a:solidFill>
            <a:schemeClr val="bg1">
              <a:alpha val="86757"/>
            </a:schemeClr>
          </a:solidFill>
          <a:ln>
            <a:solidFill>
              <a:srgbClr val="01A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5" name="Pfeil nach rechts 24">
            <a:extLst>
              <a:ext uri="{FF2B5EF4-FFF2-40B4-BE49-F238E27FC236}">
                <a16:creationId xmlns:a16="http://schemas.microsoft.com/office/drawing/2014/main" id="{9388EE25-8952-E39B-3958-7E51C5FE8F17}"/>
              </a:ext>
            </a:extLst>
          </p:cNvPr>
          <p:cNvSpPr/>
          <p:nvPr/>
        </p:nvSpPr>
        <p:spPr>
          <a:xfrm>
            <a:off x="5920176" y="3875361"/>
            <a:ext cx="904366" cy="367999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6B90773-733C-3441-5708-0BC958AF4AF0}"/>
              </a:ext>
            </a:extLst>
          </p:cNvPr>
          <p:cNvSpPr txBox="1"/>
          <p:nvPr/>
        </p:nvSpPr>
        <p:spPr>
          <a:xfrm>
            <a:off x="4212140" y="2886635"/>
            <a:ext cx="3425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should</a:t>
            </a:r>
            <a:r>
              <a:rPr lang="de-DE" b="1" dirty="0"/>
              <a:t> I do?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0B35C54-F7CF-D106-1B40-CADD379F3F35}"/>
              </a:ext>
            </a:extLst>
          </p:cNvPr>
          <p:cNvSpPr txBox="1"/>
          <p:nvPr/>
        </p:nvSpPr>
        <p:spPr>
          <a:xfrm>
            <a:off x="4212140" y="4490998"/>
            <a:ext cx="44718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Translate</a:t>
            </a:r>
            <a:r>
              <a:rPr lang="de-DE" dirty="0"/>
              <a:t> </a:t>
            </a:r>
            <a:r>
              <a:rPr lang="de-DE" dirty="0" err="1"/>
              <a:t>insights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action</a:t>
            </a:r>
            <a:r>
              <a:rPr lang="de-DE" dirty="0"/>
              <a:t>. Act on </a:t>
            </a:r>
            <a:r>
              <a:rPr lang="de-DE" dirty="0" err="1"/>
              <a:t>recommendations</a:t>
            </a:r>
            <a:r>
              <a:rPr lang="de-DE" dirty="0"/>
              <a:t> </a:t>
            </a:r>
            <a:r>
              <a:rPr lang="de-DE" dirty="0" err="1"/>
              <a:t>regarding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diet</a:t>
            </a:r>
            <a:r>
              <a:rPr lang="de-DE" dirty="0"/>
              <a:t>, </a:t>
            </a:r>
            <a:r>
              <a:rPr lang="de-DE" dirty="0" err="1"/>
              <a:t>supplements</a:t>
            </a:r>
            <a:r>
              <a:rPr lang="de-DE" dirty="0"/>
              <a:t>, </a:t>
            </a:r>
            <a:r>
              <a:rPr lang="de-DE" dirty="0" err="1"/>
              <a:t>exercise</a:t>
            </a:r>
            <a:r>
              <a:rPr lang="de-DE" dirty="0"/>
              <a:t> plan,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overdue</a:t>
            </a:r>
            <a:r>
              <a:rPr lang="de-DE" dirty="0"/>
              <a:t> </a:t>
            </a:r>
            <a:r>
              <a:rPr lang="de-DE" dirty="0" err="1"/>
              <a:t>medical</a:t>
            </a:r>
            <a:r>
              <a:rPr lang="de-DE" dirty="0"/>
              <a:t> </a:t>
            </a:r>
            <a:r>
              <a:rPr lang="de-DE" dirty="0" err="1"/>
              <a:t>appointments</a:t>
            </a:r>
            <a:r>
              <a:rPr lang="de-DE" dirty="0"/>
              <a:t>.</a:t>
            </a:r>
          </a:p>
        </p:txBody>
      </p:sp>
      <p:pic>
        <p:nvPicPr>
          <p:cNvPr id="7" name="Grafik 6" descr="Gute Idee mit einfarbiger Füllung">
            <a:extLst>
              <a:ext uri="{FF2B5EF4-FFF2-40B4-BE49-F238E27FC236}">
                <a16:creationId xmlns:a16="http://schemas.microsoft.com/office/drawing/2014/main" id="{41D3C5B7-F07C-D5AE-6AA4-6EBDAD543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6114" y="3537140"/>
            <a:ext cx="914400" cy="914400"/>
          </a:xfrm>
          <a:prstGeom prst="rect">
            <a:avLst/>
          </a:prstGeom>
        </p:spPr>
      </p:pic>
      <p:pic>
        <p:nvPicPr>
          <p:cNvPr id="9" name="Grafik 8" descr="Rakete mit einfarbiger Füllung">
            <a:extLst>
              <a:ext uri="{FF2B5EF4-FFF2-40B4-BE49-F238E27FC236}">
                <a16:creationId xmlns:a16="http://schemas.microsoft.com/office/drawing/2014/main" id="{F803F425-6A47-A84A-DFC6-9397695EF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6892" y="3537140"/>
            <a:ext cx="914400" cy="914400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E914D62-BCEB-4310-4C4D-D7CB74C981D0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70E3BB71-9A14-0300-1FF0-76E995B298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19" name="Picture 2" descr="Wie ist BCG Platinion als Arbeitgeber? 📈">
              <a:extLst>
                <a:ext uri="{FF2B5EF4-FFF2-40B4-BE49-F238E27FC236}">
                  <a16:creationId xmlns:a16="http://schemas.microsoft.com/office/drawing/2014/main" id="{F0C58C1C-881B-4C7B-5778-C53AD7835A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2654017A-FC1A-F55D-9582-0931900D8E49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600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2E53-BAB7-99C8-0BD4-BA3D3A33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776C4-3571-1A6B-03D5-AD47466C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 err="1"/>
              <a:t>Longevity</a:t>
            </a:r>
            <a:r>
              <a:rPr lang="de-DE" b="1" dirty="0"/>
              <a:t> Journey</a:t>
            </a:r>
            <a:br>
              <a:rPr lang="de-DE" dirty="0"/>
            </a:br>
            <a:r>
              <a:rPr lang="de-DE" sz="2200" dirty="0">
                <a:solidFill>
                  <a:srgbClr val="73716E"/>
                </a:solidFill>
              </a:rPr>
              <a:t>Building </a:t>
            </a:r>
            <a:r>
              <a:rPr lang="de-DE" sz="2200" dirty="0" err="1">
                <a:solidFill>
                  <a:srgbClr val="73716E"/>
                </a:solidFill>
              </a:rPr>
              <a:t>sustainable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health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through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data</a:t>
            </a:r>
            <a:r>
              <a:rPr lang="de-DE" sz="2200" dirty="0">
                <a:solidFill>
                  <a:srgbClr val="73716E"/>
                </a:solidFill>
              </a:rPr>
              <a:t>, </a:t>
            </a:r>
            <a:r>
              <a:rPr lang="de-DE" sz="2200" dirty="0" err="1">
                <a:solidFill>
                  <a:srgbClr val="73716E"/>
                </a:solidFill>
              </a:rPr>
              <a:t>habits</a:t>
            </a:r>
            <a:r>
              <a:rPr lang="de-DE" sz="2200" dirty="0">
                <a:solidFill>
                  <a:srgbClr val="73716E"/>
                </a:solidFill>
              </a:rPr>
              <a:t>, and </a:t>
            </a:r>
            <a:r>
              <a:rPr lang="de-DE" sz="2200" dirty="0" err="1">
                <a:solidFill>
                  <a:srgbClr val="73716E"/>
                </a:solidFill>
              </a:rPr>
              <a:t>continuous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improvement</a:t>
            </a:r>
            <a:endParaRPr lang="de-DE" dirty="0">
              <a:solidFill>
                <a:srgbClr val="73716E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05B7A577-EA7E-6330-86FB-003E35C5CA7C}"/>
              </a:ext>
            </a:extLst>
          </p:cNvPr>
          <p:cNvSpPr/>
          <p:nvPr/>
        </p:nvSpPr>
        <p:spPr>
          <a:xfrm>
            <a:off x="838200" y="3990523"/>
            <a:ext cx="1961724" cy="368000"/>
          </a:xfrm>
          <a:prstGeom prst="roundRect">
            <a:avLst/>
          </a:prstGeom>
          <a:solidFill>
            <a:srgbClr val="00D08B">
              <a:alpha val="2591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1. Awareness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5585AEF7-CE85-0CCE-4D02-3AEB013457D6}"/>
              </a:ext>
            </a:extLst>
          </p:cNvPr>
          <p:cNvSpPr/>
          <p:nvPr/>
        </p:nvSpPr>
        <p:spPr>
          <a:xfrm>
            <a:off x="2799924" y="3990523"/>
            <a:ext cx="1961724" cy="368000"/>
          </a:xfrm>
          <a:prstGeom prst="roundRect">
            <a:avLst/>
          </a:prstGeom>
          <a:solidFill>
            <a:srgbClr val="01A870">
              <a:alpha val="270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2. Deep </a:t>
            </a:r>
            <a:r>
              <a:rPr lang="de-DE" sz="1200" b="1" dirty="0" err="1"/>
              <a:t>Insights</a:t>
            </a:r>
            <a:endParaRPr lang="de-DE" sz="1200" b="1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5729706D-1C01-6F04-EC92-31AAF71830DB}"/>
              </a:ext>
            </a:extLst>
          </p:cNvPr>
          <p:cNvSpPr/>
          <p:nvPr/>
        </p:nvSpPr>
        <p:spPr>
          <a:xfrm>
            <a:off x="9169399" y="3990524"/>
            <a:ext cx="1967797" cy="367999"/>
          </a:xfrm>
          <a:prstGeom prst="roundRect">
            <a:avLst/>
          </a:prstGeom>
          <a:solidFill>
            <a:srgbClr val="0C6040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6. Retention</a:t>
            </a:r>
          </a:p>
        </p:txBody>
      </p:sp>
      <p:sp>
        <p:nvSpPr>
          <p:cNvPr id="50" name="180-Grad-Pfeil 49">
            <a:extLst>
              <a:ext uri="{FF2B5EF4-FFF2-40B4-BE49-F238E27FC236}">
                <a16:creationId xmlns:a16="http://schemas.microsoft.com/office/drawing/2014/main" id="{B04A7BEC-0203-7710-8C02-E17FBC0CF9FC}"/>
              </a:ext>
            </a:extLst>
          </p:cNvPr>
          <p:cNvSpPr/>
          <p:nvPr/>
        </p:nvSpPr>
        <p:spPr>
          <a:xfrm>
            <a:off x="4906189" y="2042115"/>
            <a:ext cx="4290795" cy="2293708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2000" dirty="0">
                <a:solidFill>
                  <a:schemeClr val="bg1"/>
                </a:solidFill>
              </a:rPr>
              <a:t>4. Engagement             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B54A251D-D6BA-9285-D5BA-EE42F05A29FF}"/>
              </a:ext>
            </a:extLst>
          </p:cNvPr>
          <p:cNvSpPr/>
          <p:nvPr/>
        </p:nvSpPr>
        <p:spPr>
          <a:xfrm>
            <a:off x="4761648" y="3990523"/>
            <a:ext cx="1961725" cy="368000"/>
          </a:xfrm>
          <a:prstGeom prst="roundRect">
            <a:avLst/>
          </a:prstGeom>
          <a:solidFill>
            <a:srgbClr val="0C6745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3. </a:t>
            </a:r>
            <a:r>
              <a:rPr lang="de-DE" sz="1200" b="1" dirty="0" err="1"/>
              <a:t>Activation</a:t>
            </a:r>
            <a:endParaRPr lang="de-DE" sz="1200" b="1" dirty="0"/>
          </a:p>
        </p:txBody>
      </p:sp>
      <p:sp>
        <p:nvSpPr>
          <p:cNvPr id="57" name="180-Grad-Pfeil 56">
            <a:extLst>
              <a:ext uri="{FF2B5EF4-FFF2-40B4-BE49-F238E27FC236}">
                <a16:creationId xmlns:a16="http://schemas.microsoft.com/office/drawing/2014/main" id="{802D023B-04B0-40FC-E523-79CEC0E73075}"/>
              </a:ext>
            </a:extLst>
          </p:cNvPr>
          <p:cNvSpPr/>
          <p:nvPr/>
        </p:nvSpPr>
        <p:spPr>
          <a:xfrm rot="10800000">
            <a:off x="6311621" y="4358523"/>
            <a:ext cx="2713237" cy="1558025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5. Feedback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A007BD8-EC39-8C4E-3C4D-B318236708C3}"/>
              </a:ext>
            </a:extLst>
          </p:cNvPr>
          <p:cNvSpPr/>
          <p:nvPr/>
        </p:nvSpPr>
        <p:spPr>
          <a:xfrm>
            <a:off x="4552162" y="2625943"/>
            <a:ext cx="5257800" cy="3202150"/>
          </a:xfrm>
          <a:prstGeom prst="rect">
            <a:avLst/>
          </a:prstGeom>
          <a:solidFill>
            <a:schemeClr val="bg1">
              <a:alpha val="86757"/>
            </a:schemeClr>
          </a:solidFill>
          <a:ln>
            <a:solidFill>
              <a:srgbClr val="01A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5" name="Pfeil nach rechts 24">
            <a:extLst>
              <a:ext uri="{FF2B5EF4-FFF2-40B4-BE49-F238E27FC236}">
                <a16:creationId xmlns:a16="http://schemas.microsoft.com/office/drawing/2014/main" id="{94B6A5AE-230D-8D7B-8059-D61FC92A0E98}"/>
              </a:ext>
            </a:extLst>
          </p:cNvPr>
          <p:cNvSpPr/>
          <p:nvPr/>
        </p:nvSpPr>
        <p:spPr>
          <a:xfrm>
            <a:off x="6873089" y="3830159"/>
            <a:ext cx="904366" cy="367999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6F88B5E7-BA76-E702-4A19-46B6816C044A}"/>
              </a:ext>
            </a:extLst>
          </p:cNvPr>
          <p:cNvSpPr txBox="1"/>
          <p:nvPr/>
        </p:nvSpPr>
        <p:spPr>
          <a:xfrm>
            <a:off x="5165053" y="2841433"/>
            <a:ext cx="3425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Am I </a:t>
            </a:r>
            <a:r>
              <a:rPr lang="de-DE" b="1" dirty="0" err="1"/>
              <a:t>doing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?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88E67C1-A984-06B4-301A-699EA43ABE97}"/>
              </a:ext>
            </a:extLst>
          </p:cNvPr>
          <p:cNvSpPr txBox="1"/>
          <p:nvPr/>
        </p:nvSpPr>
        <p:spPr>
          <a:xfrm>
            <a:off x="5165053" y="4445796"/>
            <a:ext cx="4471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Through </a:t>
            </a:r>
            <a:r>
              <a:rPr lang="de-DE" dirty="0" err="1"/>
              <a:t>regular</a:t>
            </a:r>
            <a:r>
              <a:rPr lang="de-DE" dirty="0"/>
              <a:t> </a:t>
            </a:r>
            <a:r>
              <a:rPr lang="de-DE" dirty="0" err="1"/>
              <a:t>notifications</a:t>
            </a:r>
            <a:r>
              <a:rPr lang="de-DE" dirty="0"/>
              <a:t>, </a:t>
            </a:r>
            <a:r>
              <a:rPr lang="de-DE" dirty="0" err="1"/>
              <a:t>habits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. Micro-actions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suggested</a:t>
            </a:r>
            <a:r>
              <a:rPr lang="de-DE" dirty="0"/>
              <a:t>, </a:t>
            </a:r>
            <a:r>
              <a:rPr lang="de-DE" dirty="0" err="1"/>
              <a:t>helping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consistency</a:t>
            </a:r>
            <a:r>
              <a:rPr lang="de-DE" dirty="0"/>
              <a:t>.</a:t>
            </a:r>
          </a:p>
        </p:txBody>
      </p:sp>
      <p:pic>
        <p:nvPicPr>
          <p:cNvPr id="8" name="Grafik 7" descr="Glocke mit einfarbiger Füllung">
            <a:extLst>
              <a:ext uri="{FF2B5EF4-FFF2-40B4-BE49-F238E27FC236}">
                <a16:creationId xmlns:a16="http://schemas.microsoft.com/office/drawing/2014/main" id="{D20DAFFF-0A4B-AB90-36A6-399E2721E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9759" y="3426255"/>
            <a:ext cx="914400" cy="914400"/>
          </a:xfrm>
          <a:prstGeom prst="rect">
            <a:avLst/>
          </a:prstGeom>
        </p:spPr>
      </p:pic>
      <p:pic>
        <p:nvPicPr>
          <p:cNvPr id="14" name="Grafik 13" descr="Route zwei Stecknadeln mit Weg mit einfarbiger Füllung">
            <a:extLst>
              <a:ext uri="{FF2B5EF4-FFF2-40B4-BE49-F238E27FC236}">
                <a16:creationId xmlns:a16="http://schemas.microsoft.com/office/drawing/2014/main" id="{2FA034CD-090A-4174-5FEF-AF4ADA86D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3301" y="3442356"/>
            <a:ext cx="914400" cy="914400"/>
          </a:xfrm>
          <a:prstGeom prst="rect">
            <a:avLst/>
          </a:prstGeom>
        </p:spPr>
      </p:pic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344B42C-7904-1121-5BEC-709E58CD0097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19F31BF2-BA0C-E187-7453-3558369662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22" name="Picture 2" descr="Wie ist BCG Platinion als Arbeitgeber? 📈">
              <a:extLst>
                <a:ext uri="{FF2B5EF4-FFF2-40B4-BE49-F238E27FC236}">
                  <a16:creationId xmlns:a16="http://schemas.microsoft.com/office/drawing/2014/main" id="{C7D6D3BB-CABC-10D7-6BCD-95C1E04064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940BD7D6-6AEF-2073-19CE-CB62CC45D411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5559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85EB-8772-C9D5-5F3D-073F16D1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B7DCEB-4713-075D-3D3A-538F367D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 err="1"/>
              <a:t>Longevity</a:t>
            </a:r>
            <a:r>
              <a:rPr lang="de-DE" b="1" dirty="0"/>
              <a:t> Journey</a:t>
            </a:r>
            <a:br>
              <a:rPr lang="de-DE" dirty="0"/>
            </a:br>
            <a:r>
              <a:rPr lang="de-DE" sz="2200" dirty="0">
                <a:solidFill>
                  <a:srgbClr val="73716E"/>
                </a:solidFill>
              </a:rPr>
              <a:t>Building </a:t>
            </a:r>
            <a:r>
              <a:rPr lang="de-DE" sz="2200" dirty="0" err="1">
                <a:solidFill>
                  <a:srgbClr val="73716E"/>
                </a:solidFill>
              </a:rPr>
              <a:t>sustainable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health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through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data</a:t>
            </a:r>
            <a:r>
              <a:rPr lang="de-DE" sz="2200" dirty="0">
                <a:solidFill>
                  <a:srgbClr val="73716E"/>
                </a:solidFill>
              </a:rPr>
              <a:t>, </a:t>
            </a:r>
            <a:r>
              <a:rPr lang="de-DE" sz="2200" dirty="0" err="1">
                <a:solidFill>
                  <a:srgbClr val="73716E"/>
                </a:solidFill>
              </a:rPr>
              <a:t>habits</a:t>
            </a:r>
            <a:r>
              <a:rPr lang="de-DE" sz="2200" dirty="0">
                <a:solidFill>
                  <a:srgbClr val="73716E"/>
                </a:solidFill>
              </a:rPr>
              <a:t>, and </a:t>
            </a:r>
            <a:r>
              <a:rPr lang="de-DE" sz="2200" dirty="0" err="1">
                <a:solidFill>
                  <a:srgbClr val="73716E"/>
                </a:solidFill>
              </a:rPr>
              <a:t>continuous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improvement</a:t>
            </a:r>
            <a:endParaRPr lang="de-DE" dirty="0">
              <a:solidFill>
                <a:srgbClr val="73716E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E25EFEDE-1A58-286D-1812-CA1EE1E754EF}"/>
              </a:ext>
            </a:extLst>
          </p:cNvPr>
          <p:cNvSpPr/>
          <p:nvPr/>
        </p:nvSpPr>
        <p:spPr>
          <a:xfrm>
            <a:off x="838200" y="3990523"/>
            <a:ext cx="1961724" cy="368000"/>
          </a:xfrm>
          <a:prstGeom prst="roundRect">
            <a:avLst/>
          </a:prstGeom>
          <a:solidFill>
            <a:srgbClr val="00D08B">
              <a:alpha val="2591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1. Awareness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FEACEF33-50A5-6C0F-5488-7D8E518AD433}"/>
              </a:ext>
            </a:extLst>
          </p:cNvPr>
          <p:cNvSpPr/>
          <p:nvPr/>
        </p:nvSpPr>
        <p:spPr>
          <a:xfrm>
            <a:off x="2799924" y="3990523"/>
            <a:ext cx="1961724" cy="368000"/>
          </a:xfrm>
          <a:prstGeom prst="roundRect">
            <a:avLst/>
          </a:prstGeom>
          <a:solidFill>
            <a:srgbClr val="01A870">
              <a:alpha val="270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2. Deep </a:t>
            </a:r>
            <a:r>
              <a:rPr lang="de-DE" sz="1200" b="1" dirty="0" err="1"/>
              <a:t>Insights</a:t>
            </a:r>
            <a:endParaRPr lang="de-DE" sz="1200" b="1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6E8B558-C9D4-7FC5-FBC0-B7AF8B7539F5}"/>
              </a:ext>
            </a:extLst>
          </p:cNvPr>
          <p:cNvSpPr/>
          <p:nvPr/>
        </p:nvSpPr>
        <p:spPr>
          <a:xfrm>
            <a:off x="9169399" y="3990524"/>
            <a:ext cx="1967797" cy="367999"/>
          </a:xfrm>
          <a:prstGeom prst="roundRect">
            <a:avLst/>
          </a:prstGeom>
          <a:solidFill>
            <a:srgbClr val="0C6040">
              <a:alpha val="1911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/>
              <a:t>6. Retention</a:t>
            </a:r>
          </a:p>
        </p:txBody>
      </p:sp>
      <p:sp>
        <p:nvSpPr>
          <p:cNvPr id="50" name="180-Grad-Pfeil 49">
            <a:extLst>
              <a:ext uri="{FF2B5EF4-FFF2-40B4-BE49-F238E27FC236}">
                <a16:creationId xmlns:a16="http://schemas.microsoft.com/office/drawing/2014/main" id="{60BA8676-69E0-71D1-EC68-AD5F252E65DC}"/>
              </a:ext>
            </a:extLst>
          </p:cNvPr>
          <p:cNvSpPr/>
          <p:nvPr/>
        </p:nvSpPr>
        <p:spPr>
          <a:xfrm>
            <a:off x="6483747" y="2825671"/>
            <a:ext cx="2713237" cy="1510152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 dirty="0">
                <a:solidFill>
                  <a:schemeClr val="bg1"/>
                </a:solidFill>
              </a:rPr>
              <a:t>4. Engagement             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0554E5E9-86C8-F593-7802-017CEB060082}"/>
              </a:ext>
            </a:extLst>
          </p:cNvPr>
          <p:cNvSpPr/>
          <p:nvPr/>
        </p:nvSpPr>
        <p:spPr>
          <a:xfrm>
            <a:off x="4761648" y="3990523"/>
            <a:ext cx="1961725" cy="368000"/>
          </a:xfrm>
          <a:prstGeom prst="roundRect">
            <a:avLst/>
          </a:prstGeom>
          <a:solidFill>
            <a:srgbClr val="0C6745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3. </a:t>
            </a:r>
            <a:r>
              <a:rPr lang="de-DE" sz="1200" b="1" dirty="0" err="1"/>
              <a:t>Activation</a:t>
            </a:r>
            <a:endParaRPr lang="de-DE" sz="1200" b="1" dirty="0"/>
          </a:p>
        </p:txBody>
      </p:sp>
      <p:sp>
        <p:nvSpPr>
          <p:cNvPr id="57" name="180-Grad-Pfeil 56">
            <a:extLst>
              <a:ext uri="{FF2B5EF4-FFF2-40B4-BE49-F238E27FC236}">
                <a16:creationId xmlns:a16="http://schemas.microsoft.com/office/drawing/2014/main" id="{71C709D0-2E54-D110-EE1C-55C591097D32}"/>
              </a:ext>
            </a:extLst>
          </p:cNvPr>
          <p:cNvSpPr/>
          <p:nvPr/>
        </p:nvSpPr>
        <p:spPr>
          <a:xfrm>
            <a:off x="6363134" y="2057401"/>
            <a:ext cx="3526824" cy="2065150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de-DE" sz="2000" dirty="0">
                <a:solidFill>
                  <a:schemeClr val="bg1"/>
                </a:solidFill>
              </a:rPr>
              <a:t>5. Feedback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C512207-F046-26A7-5D02-89E5F8FF6AE2}"/>
              </a:ext>
            </a:extLst>
          </p:cNvPr>
          <p:cNvSpPr/>
          <p:nvPr/>
        </p:nvSpPr>
        <p:spPr>
          <a:xfrm>
            <a:off x="4552162" y="2625943"/>
            <a:ext cx="5257800" cy="3202150"/>
          </a:xfrm>
          <a:prstGeom prst="rect">
            <a:avLst/>
          </a:prstGeom>
          <a:solidFill>
            <a:schemeClr val="bg1">
              <a:alpha val="86757"/>
            </a:schemeClr>
          </a:solidFill>
          <a:ln>
            <a:solidFill>
              <a:srgbClr val="01A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7" name="Pfeil nach rechts 16">
            <a:extLst>
              <a:ext uri="{FF2B5EF4-FFF2-40B4-BE49-F238E27FC236}">
                <a16:creationId xmlns:a16="http://schemas.microsoft.com/office/drawing/2014/main" id="{18A772D0-D25A-1539-0C7A-F1BCADEC0339}"/>
              </a:ext>
            </a:extLst>
          </p:cNvPr>
          <p:cNvSpPr/>
          <p:nvPr/>
        </p:nvSpPr>
        <p:spPr>
          <a:xfrm>
            <a:off x="6873089" y="3830159"/>
            <a:ext cx="904366" cy="367999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6929F2E-03DC-4D64-2283-9A2D44003767}"/>
              </a:ext>
            </a:extLst>
          </p:cNvPr>
          <p:cNvSpPr txBox="1"/>
          <p:nvPr/>
        </p:nvSpPr>
        <p:spPr>
          <a:xfrm>
            <a:off x="5165053" y="2841433"/>
            <a:ext cx="3425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it</a:t>
            </a:r>
            <a:r>
              <a:rPr lang="de-DE" b="1" dirty="0"/>
              <a:t> </a:t>
            </a:r>
            <a:r>
              <a:rPr lang="de-DE" b="1" dirty="0" err="1"/>
              <a:t>working</a:t>
            </a:r>
            <a:r>
              <a:rPr lang="de-DE" b="1" dirty="0"/>
              <a:t>?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503700D-1013-F02F-B3D7-7990368F9EE7}"/>
              </a:ext>
            </a:extLst>
          </p:cNvPr>
          <p:cNvSpPr txBox="1"/>
          <p:nvPr/>
        </p:nvSpPr>
        <p:spPr>
          <a:xfrm>
            <a:off x="5165053" y="4445796"/>
            <a:ext cx="4471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Biomarkers will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time. Users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motivated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visible </a:t>
            </a:r>
            <a:r>
              <a:rPr lang="de-DE" dirty="0" err="1"/>
              <a:t>progress</a:t>
            </a:r>
            <a:r>
              <a:rPr lang="de-DE" dirty="0"/>
              <a:t> and </a:t>
            </a:r>
            <a:r>
              <a:rPr lang="de-DE" dirty="0" err="1"/>
              <a:t>feedback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daily</a:t>
            </a:r>
            <a:r>
              <a:rPr lang="de-DE" dirty="0"/>
              <a:t> </a:t>
            </a:r>
            <a:r>
              <a:rPr lang="de-DE" dirty="0" err="1"/>
              <a:t>check-ins</a:t>
            </a:r>
            <a:r>
              <a:rPr lang="de-DE" dirty="0"/>
              <a:t>.</a:t>
            </a:r>
          </a:p>
        </p:txBody>
      </p:sp>
      <p:pic>
        <p:nvPicPr>
          <p:cNvPr id="21" name="Grafik 20" descr="Kurzhantel mit einfarbiger Füllung">
            <a:extLst>
              <a:ext uri="{FF2B5EF4-FFF2-40B4-BE49-F238E27FC236}">
                <a16:creationId xmlns:a16="http://schemas.microsoft.com/office/drawing/2014/main" id="{EE2BB27A-78D1-69F4-3FD3-FAACD7B67A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1622" y="3476410"/>
            <a:ext cx="914400" cy="914400"/>
          </a:xfrm>
          <a:prstGeom prst="rect">
            <a:avLst/>
          </a:prstGeom>
        </p:spPr>
      </p:pic>
      <p:pic>
        <p:nvPicPr>
          <p:cNvPr id="23" name="Grafik 22" descr="Feuerwerk mit einfarbiger Füllung">
            <a:extLst>
              <a:ext uri="{FF2B5EF4-FFF2-40B4-BE49-F238E27FC236}">
                <a16:creationId xmlns:a16="http://schemas.microsoft.com/office/drawing/2014/main" id="{06CCFF07-2A51-980B-5C94-93C71838B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0019" y="3429770"/>
            <a:ext cx="914400" cy="914400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F21E37-ACD7-38E8-4096-39708ADCEF1A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258C4682-9D0C-4963-1FF0-D2CDF82E2F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29" name="Picture 2" descr="Wie ist BCG Platinion als Arbeitgeber? 📈">
              <a:extLst>
                <a:ext uri="{FF2B5EF4-FFF2-40B4-BE49-F238E27FC236}">
                  <a16:creationId xmlns:a16="http://schemas.microsoft.com/office/drawing/2014/main" id="{D393DCB8-CB23-7A17-C371-B58A495A5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659405F8-CD8A-ED10-8246-267934B5D957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950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2C1C-8779-1993-E31F-202331D5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BD9FA-4093-D942-03D6-32E210A7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 err="1"/>
              <a:t>Longevity</a:t>
            </a:r>
            <a:r>
              <a:rPr lang="de-DE" b="1" dirty="0"/>
              <a:t> Journey</a:t>
            </a:r>
            <a:br>
              <a:rPr lang="de-DE" dirty="0"/>
            </a:br>
            <a:r>
              <a:rPr lang="de-DE" sz="2200" dirty="0">
                <a:solidFill>
                  <a:srgbClr val="73716E"/>
                </a:solidFill>
              </a:rPr>
              <a:t>Building </a:t>
            </a:r>
            <a:r>
              <a:rPr lang="de-DE" sz="2200" dirty="0" err="1">
                <a:solidFill>
                  <a:srgbClr val="73716E"/>
                </a:solidFill>
              </a:rPr>
              <a:t>sustainable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health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through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data</a:t>
            </a:r>
            <a:r>
              <a:rPr lang="de-DE" sz="2200" dirty="0">
                <a:solidFill>
                  <a:srgbClr val="73716E"/>
                </a:solidFill>
              </a:rPr>
              <a:t>, </a:t>
            </a:r>
            <a:r>
              <a:rPr lang="de-DE" sz="2200" dirty="0" err="1">
                <a:solidFill>
                  <a:srgbClr val="73716E"/>
                </a:solidFill>
              </a:rPr>
              <a:t>habits</a:t>
            </a:r>
            <a:r>
              <a:rPr lang="de-DE" sz="2200" dirty="0">
                <a:solidFill>
                  <a:srgbClr val="73716E"/>
                </a:solidFill>
              </a:rPr>
              <a:t>, and </a:t>
            </a:r>
            <a:r>
              <a:rPr lang="de-DE" sz="2200" dirty="0" err="1">
                <a:solidFill>
                  <a:srgbClr val="73716E"/>
                </a:solidFill>
              </a:rPr>
              <a:t>continuous</a:t>
            </a:r>
            <a:r>
              <a:rPr lang="de-DE" sz="2200" dirty="0">
                <a:solidFill>
                  <a:srgbClr val="73716E"/>
                </a:solidFill>
              </a:rPr>
              <a:t> </a:t>
            </a:r>
            <a:r>
              <a:rPr lang="de-DE" sz="2200" dirty="0" err="1">
                <a:solidFill>
                  <a:srgbClr val="73716E"/>
                </a:solidFill>
              </a:rPr>
              <a:t>improvement</a:t>
            </a:r>
            <a:endParaRPr lang="de-DE" dirty="0">
              <a:solidFill>
                <a:srgbClr val="73716E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24DF27B4-3C46-A235-805C-1C976074EF81}"/>
              </a:ext>
            </a:extLst>
          </p:cNvPr>
          <p:cNvSpPr/>
          <p:nvPr/>
        </p:nvSpPr>
        <p:spPr>
          <a:xfrm>
            <a:off x="838200" y="3990523"/>
            <a:ext cx="1961724" cy="368000"/>
          </a:xfrm>
          <a:prstGeom prst="roundRect">
            <a:avLst/>
          </a:prstGeom>
          <a:solidFill>
            <a:srgbClr val="00D08B">
              <a:alpha val="2591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1. Awareness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B487D9AF-02A6-4980-7942-4AE194E84F2E}"/>
              </a:ext>
            </a:extLst>
          </p:cNvPr>
          <p:cNvSpPr/>
          <p:nvPr/>
        </p:nvSpPr>
        <p:spPr>
          <a:xfrm>
            <a:off x="2799924" y="3990523"/>
            <a:ext cx="1961724" cy="368000"/>
          </a:xfrm>
          <a:prstGeom prst="roundRect">
            <a:avLst/>
          </a:prstGeom>
          <a:solidFill>
            <a:srgbClr val="01A870">
              <a:alpha val="270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2. Deep </a:t>
            </a:r>
            <a:r>
              <a:rPr lang="de-DE" sz="1200" b="1" dirty="0" err="1"/>
              <a:t>Insights</a:t>
            </a:r>
            <a:endParaRPr lang="de-DE" sz="1200" b="1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7C918CF1-A1BD-9860-7AB4-11DB2057C63C}"/>
              </a:ext>
            </a:extLst>
          </p:cNvPr>
          <p:cNvSpPr/>
          <p:nvPr/>
        </p:nvSpPr>
        <p:spPr>
          <a:xfrm>
            <a:off x="7325272" y="2022445"/>
            <a:ext cx="4290795" cy="646331"/>
          </a:xfrm>
          <a:prstGeom prst="roundRect">
            <a:avLst/>
          </a:prstGeom>
          <a:solidFill>
            <a:srgbClr val="0C6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6. Retention</a:t>
            </a:r>
          </a:p>
        </p:txBody>
      </p:sp>
      <p:sp>
        <p:nvSpPr>
          <p:cNvPr id="50" name="180-Grad-Pfeil 49">
            <a:extLst>
              <a:ext uri="{FF2B5EF4-FFF2-40B4-BE49-F238E27FC236}">
                <a16:creationId xmlns:a16="http://schemas.microsoft.com/office/drawing/2014/main" id="{F2D9F410-C973-C4B6-0F5C-5B4E7A73B5F0}"/>
              </a:ext>
            </a:extLst>
          </p:cNvPr>
          <p:cNvSpPr/>
          <p:nvPr/>
        </p:nvSpPr>
        <p:spPr>
          <a:xfrm>
            <a:off x="6483747" y="2825671"/>
            <a:ext cx="2713237" cy="1510152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200" dirty="0">
                <a:solidFill>
                  <a:schemeClr val="bg1"/>
                </a:solidFill>
              </a:rPr>
              <a:t>4. Engagement             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CB533ED3-ED58-7CBA-A570-893EC819E013}"/>
              </a:ext>
            </a:extLst>
          </p:cNvPr>
          <p:cNvSpPr/>
          <p:nvPr/>
        </p:nvSpPr>
        <p:spPr>
          <a:xfrm>
            <a:off x="4761648" y="3990523"/>
            <a:ext cx="1961725" cy="368000"/>
          </a:xfrm>
          <a:prstGeom prst="roundRect">
            <a:avLst/>
          </a:prstGeom>
          <a:solidFill>
            <a:srgbClr val="0C6745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3. </a:t>
            </a:r>
            <a:r>
              <a:rPr lang="de-DE" sz="1200" b="1" dirty="0" err="1"/>
              <a:t>Activation</a:t>
            </a:r>
            <a:endParaRPr lang="de-DE" sz="1200" b="1" dirty="0"/>
          </a:p>
        </p:txBody>
      </p:sp>
      <p:sp>
        <p:nvSpPr>
          <p:cNvPr id="57" name="180-Grad-Pfeil 56">
            <a:extLst>
              <a:ext uri="{FF2B5EF4-FFF2-40B4-BE49-F238E27FC236}">
                <a16:creationId xmlns:a16="http://schemas.microsoft.com/office/drawing/2014/main" id="{1B177868-D154-BC69-519B-A1F7561CCBC0}"/>
              </a:ext>
            </a:extLst>
          </p:cNvPr>
          <p:cNvSpPr/>
          <p:nvPr/>
        </p:nvSpPr>
        <p:spPr>
          <a:xfrm rot="10800000">
            <a:off x="6291511" y="4344170"/>
            <a:ext cx="2765398" cy="1510150"/>
          </a:xfrm>
          <a:prstGeom prst="uturnArrow">
            <a:avLst>
              <a:gd name="adj1" fmla="val 25000"/>
              <a:gd name="adj2" fmla="val 25000"/>
              <a:gd name="adj3" fmla="val 24185"/>
              <a:gd name="adj4" fmla="val 43750"/>
              <a:gd name="adj5" fmla="val 100000"/>
            </a:avLst>
          </a:prstGeom>
          <a:solidFill>
            <a:srgbClr val="00F3A2">
              <a:alpha val="213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de-DE" sz="2000" dirty="0">
                <a:solidFill>
                  <a:schemeClr val="bg1"/>
                </a:solidFill>
              </a:rPr>
              <a:t>5. Feedback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D40BE09-A719-1014-750D-D58767BCDB8A}"/>
              </a:ext>
            </a:extLst>
          </p:cNvPr>
          <p:cNvSpPr/>
          <p:nvPr/>
        </p:nvSpPr>
        <p:spPr>
          <a:xfrm>
            <a:off x="6315519" y="2726729"/>
            <a:ext cx="5257800" cy="3202150"/>
          </a:xfrm>
          <a:prstGeom prst="rect">
            <a:avLst/>
          </a:prstGeom>
          <a:solidFill>
            <a:schemeClr val="bg1">
              <a:alpha val="86757"/>
            </a:schemeClr>
          </a:solidFill>
          <a:ln>
            <a:solidFill>
              <a:srgbClr val="01A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0AF62F5-3833-B915-CFD1-B5E4CE5F9AED}"/>
              </a:ext>
            </a:extLst>
          </p:cNvPr>
          <p:cNvSpPr txBox="1"/>
          <p:nvPr/>
        </p:nvSpPr>
        <p:spPr>
          <a:xfrm>
            <a:off x="6873089" y="2826301"/>
            <a:ext cx="3425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next</a:t>
            </a:r>
            <a:r>
              <a:rPr lang="de-DE" b="1" dirty="0"/>
              <a:t>?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840CF0E-AE14-2547-EA79-72FFF499340C}"/>
              </a:ext>
            </a:extLst>
          </p:cNvPr>
          <p:cNvSpPr txBox="1"/>
          <p:nvPr/>
        </p:nvSpPr>
        <p:spPr>
          <a:xfrm>
            <a:off x="6704167" y="3253585"/>
            <a:ext cx="45341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Through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consistent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collection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of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medical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data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, a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clearer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picture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of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the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user’s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health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can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be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created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. Users will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feel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more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engaged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through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personalized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suggestions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.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They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will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be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motivated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to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check in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daily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by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incentives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such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as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free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medical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checks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or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supplements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for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maintaining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specific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-webkit-standard"/>
              </a:rPr>
              <a:t>streaks</a:t>
            </a:r>
            <a:r>
              <a:rPr lang="de-DE" altLang="de-DE" dirty="0">
                <a:solidFill>
                  <a:srgbClr val="000000"/>
                </a:solidFill>
                <a:latin typeface="-webkit-standard"/>
              </a:rPr>
              <a:t>.</a:t>
            </a:r>
            <a:endParaRPr lang="de-DE" altLang="de-DE" dirty="0">
              <a:latin typeface="Arial" panose="020B0604020202020204" pitchFamily="34" charset="0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9067F031-9B8C-6ABC-5B6E-55525DA0813A}"/>
              </a:ext>
            </a:extLst>
          </p:cNvPr>
          <p:cNvGrpSpPr/>
          <p:nvPr/>
        </p:nvGrpSpPr>
        <p:grpSpPr>
          <a:xfrm>
            <a:off x="10452463" y="6340475"/>
            <a:ext cx="1552393" cy="454245"/>
            <a:chOff x="4187633" y="1527902"/>
            <a:chExt cx="4490726" cy="1314029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63B31C3B-6CAB-E242-D2AF-31C7FFD0C7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7" name="Picture 2" descr="Wie ist BCG Platinion als Arbeitgeber? 📈">
              <a:extLst>
                <a:ext uri="{FF2B5EF4-FFF2-40B4-BE49-F238E27FC236}">
                  <a16:creationId xmlns:a16="http://schemas.microsoft.com/office/drawing/2014/main" id="{BFE8CD41-663F-8D4D-575A-DEE17DD304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6F03F449-5D2D-585B-4C23-3A7357F5A52B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7567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050" dirty="0">
                  <a:latin typeface="Century Gothic" panose="020B0502020202020204" pitchFamily="34" charset="0"/>
                </a:rPr>
                <a:t>x</a:t>
              </a:r>
              <a:endParaRPr lang="de-DE" sz="700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8116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AC5A-89A8-59B1-A3A4-5F22B992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6F9F94-514F-B195-FAA8-C0BE09E3F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8170" y="1873031"/>
            <a:ext cx="8469086" cy="2387600"/>
          </a:xfrm>
        </p:spPr>
        <p:txBody>
          <a:bodyPr>
            <a:normAutofit/>
          </a:bodyPr>
          <a:lstStyle/>
          <a:p>
            <a:pPr algn="l"/>
            <a:r>
              <a:rPr lang="de-DE" sz="4400" b="1" dirty="0">
                <a:solidFill>
                  <a:srgbClr val="09CC8F"/>
                </a:solidFill>
              </a:rPr>
              <a:t>Connect </a:t>
            </a:r>
            <a:r>
              <a:rPr lang="de-DE" sz="4400" b="1" dirty="0" err="1">
                <a:solidFill>
                  <a:srgbClr val="09CC8F"/>
                </a:solidFill>
              </a:rPr>
              <a:t>the</a:t>
            </a:r>
            <a:r>
              <a:rPr lang="de-DE" sz="4400" b="1" dirty="0">
                <a:solidFill>
                  <a:srgbClr val="09CC8F"/>
                </a:solidFill>
              </a:rPr>
              <a:t> </a:t>
            </a:r>
            <a:r>
              <a:rPr lang="de-DE" sz="4400" b="1" dirty="0" err="1">
                <a:solidFill>
                  <a:srgbClr val="09CC8F"/>
                </a:solidFill>
              </a:rPr>
              <a:t>dots</a:t>
            </a:r>
            <a:r>
              <a:rPr lang="de-DE" sz="4400" b="1" dirty="0">
                <a:solidFill>
                  <a:srgbClr val="09CC8F"/>
                </a:solidFill>
              </a:rPr>
              <a:t>. </a:t>
            </a:r>
            <a:r>
              <a:rPr lang="de-DE" sz="4400" b="1" dirty="0" err="1">
                <a:solidFill>
                  <a:srgbClr val="09CC8F"/>
                </a:solidFill>
              </a:rPr>
              <a:t>For</a:t>
            </a:r>
            <a:r>
              <a:rPr lang="de-DE" sz="4400" b="1" dirty="0">
                <a:solidFill>
                  <a:srgbClr val="09CC8F"/>
                </a:solidFill>
              </a:rPr>
              <a:t> a </a:t>
            </a:r>
            <a:r>
              <a:rPr lang="de-DE" sz="4400" b="1" dirty="0" err="1">
                <a:solidFill>
                  <a:srgbClr val="09CC8F"/>
                </a:solidFill>
              </a:rPr>
              <a:t>BetterYou</a:t>
            </a:r>
            <a:r>
              <a:rPr lang="de-DE" sz="4400" b="1" dirty="0">
                <a:solidFill>
                  <a:srgbClr val="09CC8F"/>
                </a:solidFill>
              </a:rPr>
              <a:t>.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AAD03D3-1630-542A-3076-01CD5107122C}"/>
              </a:ext>
            </a:extLst>
          </p:cNvPr>
          <p:cNvGrpSpPr/>
          <p:nvPr/>
        </p:nvGrpSpPr>
        <p:grpSpPr>
          <a:xfrm>
            <a:off x="3850637" y="2114971"/>
            <a:ext cx="4490726" cy="1314029"/>
            <a:chOff x="4187633" y="1527902"/>
            <a:chExt cx="4490726" cy="1314029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122784CD-30EF-EFF4-E551-AB778CB6A1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87633" y="1527902"/>
              <a:ext cx="1314029" cy="1314029"/>
            </a:xfrm>
            <a:prstGeom prst="rect">
              <a:avLst/>
            </a:prstGeom>
          </p:spPr>
        </p:pic>
        <p:pic>
          <p:nvPicPr>
            <p:cNvPr id="1026" name="Picture 2" descr="Wie ist BCG Platinion als Arbeitgeber? 📈">
              <a:extLst>
                <a:ext uri="{FF2B5EF4-FFF2-40B4-BE49-F238E27FC236}">
                  <a16:creationId xmlns:a16="http://schemas.microsoft.com/office/drawing/2014/main" id="{3AC92FE5-99D3-6A61-D84B-A5C11E18D2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709" y="1890072"/>
              <a:ext cx="2118650" cy="589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988B7A3E-E0ED-6B3E-B0D8-F7BCF65798FF}"/>
                </a:ext>
              </a:extLst>
            </p:cNvPr>
            <p:cNvSpPr txBox="1"/>
            <p:nvPr/>
          </p:nvSpPr>
          <p:spPr>
            <a:xfrm>
              <a:off x="5823602" y="1894987"/>
              <a:ext cx="41417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3200" dirty="0">
                  <a:latin typeface="Century Gothic" panose="020B0502020202020204" pitchFamily="34" charset="0"/>
                </a:rPr>
                <a:t>x</a:t>
              </a:r>
              <a:endParaRPr lang="de-DE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20780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Macintosh PowerPoint</Application>
  <PresentationFormat>Breitbild</PresentationFormat>
  <Paragraphs>150</Paragraphs>
  <Slides>12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-webkit-standard</vt:lpstr>
      <vt:lpstr>Aptos</vt:lpstr>
      <vt:lpstr>Aptos Display</vt:lpstr>
      <vt:lpstr>Arial</vt:lpstr>
      <vt:lpstr>Century Gothic</vt:lpstr>
      <vt:lpstr>gg sans</vt:lpstr>
      <vt:lpstr>Office</vt:lpstr>
      <vt:lpstr>Unlock preventive, personalised care through an AI-driven longevity journey</vt:lpstr>
      <vt:lpstr>PowerPoint-Präsentation</vt:lpstr>
      <vt:lpstr>PowerPoint-Präsentation</vt:lpstr>
      <vt:lpstr>PowerPoint-Präsentation</vt:lpstr>
      <vt:lpstr>Longevity Journey Building sustainable health through data, habits, and continuous improvement</vt:lpstr>
      <vt:lpstr>Longevity Journey Building sustainable health through data, habits, and continuous improvement</vt:lpstr>
      <vt:lpstr>Longevity Journey Building sustainable health through data, habits, and continuous improvement</vt:lpstr>
      <vt:lpstr>Longevity Journey Building sustainable health through data, habits, and continuous improvement</vt:lpstr>
      <vt:lpstr>Longevity Journey Building sustainable health through data, habits, and continuous improvement</vt:lpstr>
      <vt:lpstr>Longevity Journey Building sustainable health through data, habits, and continuous improvement</vt:lpstr>
      <vt:lpstr>Longevity Journey Building sustainable health through data, habits, and continuous improvement</vt:lpstr>
      <vt:lpstr>Connect the dots. For a BetterYou.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Danielsen, Lennard (SMO RI MT ADC TGMT SWD)</dc:creator>
  <cp:lastModifiedBy>Danielsen, Lennard (SMO RI MT ADC TGMT SWD)</cp:lastModifiedBy>
  <cp:revision>7</cp:revision>
  <dcterms:created xsi:type="dcterms:W3CDTF">2026-04-09T13:37:37Z</dcterms:created>
  <dcterms:modified xsi:type="dcterms:W3CDTF">2026-04-10T07:17:06Z</dcterms:modified>
</cp:coreProperties>
</file>